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4630400" cy="1737360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4754880" cy="8229600"/>
          </a:xfrm>
          <a:prstGeom prst="rect">
            <a:avLst/>
          </a:prstGeom>
          <a:solidFill>
            <a:srgbClr val="016A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3840480" cy="7498079"/>
          </a:xfrm>
          <a:prstGeom prst="roundRect">
            <a:avLst>
              <a:gd name="adj" fmla="val 8000"/>
            </a:avLst>
          </a:prstGeom>
          <a:solidFill>
            <a:srgbClr val="0155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C0"/>
                </a:solidFill>
                <a:latin typeface="Calibri"/>
              </a:rPr>
              <a:t>CRONOGRAMA DE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Antioquia Biodiversa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App móvil · Gobernación de Antioquia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D4C0"/>
                </a:solidFill>
                <a:latin typeface="Calibri"/>
              </a:rPr>
              <a:t>Entregables comprometidos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1389888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4264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Mes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142646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Módulo Bio 50%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2139696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5872" y="2176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Mes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56848" y="217627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Módulo Bio completo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889503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5872" y="292607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Mes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2926079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Módulo Agua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3639311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05872" y="367588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Mes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6848" y="3675887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Módulo Comunidad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4389120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05872" y="44256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Mes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6848" y="442569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Lanzamiento oficial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629400"/>
            <a:ext cx="1353312" cy="1170432"/>
          </a:xfrm>
          <a:prstGeom prst="roundRect">
            <a:avLst>
              <a:gd name="adj" fmla="val 8000"/>
            </a:avLst>
          </a:prstGeom>
          <a:solidFill>
            <a:srgbClr val="0155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7512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2237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D4C0"/>
                </a:solidFill>
                <a:latin typeface="Calibri"/>
              </a:rPr>
              <a:t>Meses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39112" y="6629400"/>
            <a:ext cx="1353312" cy="1170432"/>
          </a:xfrm>
          <a:prstGeom prst="roundRect">
            <a:avLst>
              <a:gd name="adj" fmla="val 8000"/>
            </a:avLst>
          </a:prstGeom>
          <a:solidFill>
            <a:srgbClr val="0155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39112" y="667512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72237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D4C0"/>
                </a:solidFill>
                <a:latin typeface="Calibri"/>
              </a:rPr>
              <a:t>Módulos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9584" y="6629400"/>
            <a:ext cx="1353312" cy="1170432"/>
          </a:xfrm>
          <a:prstGeom prst="roundRect">
            <a:avLst>
              <a:gd name="adj" fmla="val 8000"/>
            </a:avLst>
          </a:prstGeom>
          <a:solidFill>
            <a:srgbClr val="0155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667512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584" y="72237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D4C0"/>
                </a:solidFill>
                <a:latin typeface="Calibri"/>
              </a:rPr>
              <a:t>Especies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0055" y="6629400"/>
            <a:ext cx="1353312" cy="1170432"/>
          </a:xfrm>
          <a:prstGeom prst="roundRect">
            <a:avLst>
              <a:gd name="adj" fmla="val 8000"/>
            </a:avLst>
          </a:prstGeom>
          <a:solidFill>
            <a:srgbClr val="0155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0055" y="667512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0055" y="72237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D4C0"/>
                </a:solidFill>
                <a:latin typeface="Calibri"/>
              </a:rPr>
              <a:t>Entregables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7" y="6629400"/>
            <a:ext cx="1353312" cy="1170432"/>
          </a:xfrm>
          <a:prstGeom prst="roundRect">
            <a:avLst>
              <a:gd name="adj" fmla="val 8000"/>
            </a:avLst>
          </a:prstGeom>
          <a:solidFill>
            <a:srgbClr val="0155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7" y="667512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7" y="72237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D4C0"/>
                </a:solidFill>
                <a:latin typeface="Calibri"/>
              </a:rPr>
              <a:t>Fases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0999" y="6629400"/>
            <a:ext cx="1353312" cy="1170432"/>
          </a:xfrm>
          <a:prstGeom prst="roundRect">
            <a:avLst>
              <a:gd name="adj" fmla="val 8000"/>
            </a:avLst>
          </a:prstGeom>
          <a:solidFill>
            <a:srgbClr val="0155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0999" y="667512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0999" y="72237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D4C0"/>
                </a:solidFill>
                <a:latin typeface="Calibri"/>
              </a:rPr>
              <a:t>Lanzamiento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371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Entregables Comprometidos con la Gobernación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19656"/>
            <a:ext cx="13898880" cy="73152"/>
          </a:xfrm>
          <a:prstGeom prst="rect">
            <a:avLst/>
          </a:prstGeom>
          <a:solidFill>
            <a:srgbClr val="DDE3E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39" y="2039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18D38"/>
                </a:solidFill>
                <a:latin typeface="Calibri"/>
              </a:rPr>
              <a:t>Mes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39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5640"/>
                </a:solidFill>
                <a:latin typeface="Calibri"/>
              </a:rPr>
              <a:t>Mes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403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039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D77"/>
                </a:solidFill>
                <a:latin typeface="Calibri"/>
              </a:rPr>
              <a:t>Mes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88751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88751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9" y="2039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28E18"/>
                </a:solidFill>
                <a:latin typeface="Calibri"/>
              </a:rPr>
              <a:t>Mes 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6347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63472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0" y="2039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E5F00"/>
                </a:solidFill>
                <a:latin typeface="Calibri"/>
              </a:rPr>
              <a:t>Mes 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" y="2103120"/>
            <a:ext cx="2706624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18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" y="2103120"/>
            <a:ext cx="2706624" cy="960120"/>
          </a:xfrm>
          <a:prstGeom prst="roundRect">
            <a:avLst>
              <a:gd name="adj" fmla="val 12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167127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ENTREGABLE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2414015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Mes 3  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2670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Módulo Biodiversidad
al 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145535"/>
            <a:ext cx="25054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75 especies cargadas con fotos y fichas completas
Mapa SVG interactivo con las 9 subregiones
Galería por especie · Filtros · Búsqueda
Sistema bilingüe ES/EN operativo
Demo presentable al Gobernador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Presentación ante la Gobernación de Antioquia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81528" y="2103120"/>
            <a:ext cx="2706624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B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81528" y="2103120"/>
            <a:ext cx="2706624" cy="960120"/>
          </a:xfrm>
          <a:prstGeom prst="roundRect">
            <a:avLst>
              <a:gd name="adj" fmla="val 12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2167127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ENTREGABLE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2414015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Mes 6  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2968" y="2670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DD"/>
                </a:solidFill>
                <a:latin typeface="Calibri"/>
              </a:rPr>
              <a:t>Módulo Biodiversidad
completo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1256" y="3145535"/>
            <a:ext cx="25054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150 especies con fotos profesionales y revisión taxonómica
6 grupos: Aves · Anfibios · Mariposas · Polillas · Orquídeas · Mamíferos
Panel CMS para actualización de contenidos
Optimización de rendimiento y caché
QA completo del módulo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81528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Módulo Bio en producción — URL pública activa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07024" y="2103120"/>
            <a:ext cx="2706624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07024" y="2103120"/>
            <a:ext cx="2706624" cy="960120"/>
          </a:xfrm>
          <a:prstGeom prst="roundRect">
            <a:avLst>
              <a:gd name="adj" fmla="val 12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98464" y="2167127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ENTREGABLE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8464" y="2414015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Mes 9  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98464" y="2670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DD"/>
                </a:solidFill>
                <a:latin typeface="Calibri"/>
              </a:rPr>
              <a:t>Módulo Agua
implementado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3145535"/>
            <a:ext cx="25054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Red hídrica de Antioquia integrada (datos IDEAM/GIS)
Mapas Leaflet con capas GeoJSON de cuencas y ríos
Fichas por subregión: fuentes hídricas + cuencas abastecedoras
Validación con Corantioquia / autoridades ambientales
Módulo en producción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07024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Módulo Agua publicado y validado institucionalmente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19" y="2103120"/>
            <a:ext cx="2706624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2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32519" y="2103120"/>
            <a:ext cx="2706624" cy="960120"/>
          </a:xfrm>
          <a:prstGeom prst="roundRect">
            <a:avLst>
              <a:gd name="adj" fmla="val 12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59" y="2167127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ENTREGABLE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59" y="2414015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Mes 15  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59" y="2670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Módulo Comunidad
implementado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2247" y="3145535"/>
            <a:ext cx="25054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Becas Jóvenes pa' Lante integrado con datos reales
Mapa de municipios con 125+ beneficiarios
Integración con sistemas de información Gobernación
Panel de gestión y actualización de beneficiarios
Testing UAT con usuarios de la Gobernación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32519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59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Módulo Comunidad en producción — todos los módulos activos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558015" y="2103120"/>
            <a:ext cx="2706624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8E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558015" y="2103120"/>
            <a:ext cx="2706624" cy="960120"/>
          </a:xfrm>
          <a:prstGeom prst="roundRect">
            <a:avLst>
              <a:gd name="adj" fmla="val 12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49455" y="2167127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ENTREGABLE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49455" y="2414015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Mes 18  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49455" y="2670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DD"/>
                </a:solidFill>
                <a:latin typeface="Calibri"/>
              </a:rPr>
              <a:t>Lanzamiento oficial
y cierre del proyecto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67743" y="3145535"/>
            <a:ext cx="25054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Auditoría de seguridad completada (OWASP + ley 1581)
Dominio oficial antioquia.gov.co configurado
QR oficial impreso y distribuido
Capacitación al equipo de la Gobernación
Plan de mantenimiento y soporte entregado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558015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649455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Lanzamiento oficial público · Cierre contractual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66928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Cronograma Gantt · 18 Meses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91440"/>
            <a:ext cx="868680" cy="420624"/>
          </a:xfrm>
          <a:prstGeom prst="roundRect">
            <a:avLst>
              <a:gd name="adj" fmla="val 8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46336" y="10972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🌿 M3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91440"/>
            <a:ext cx="868680" cy="420624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52176" y="10972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✅ M6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21440" y="91440"/>
            <a:ext cx="868680" cy="420624"/>
          </a:xfrm>
          <a:prstGeom prst="roundRect">
            <a:avLst>
              <a:gd name="adj" fmla="val 8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58016" y="10972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💧 M9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527280" y="91440"/>
            <a:ext cx="868680" cy="420624"/>
          </a:xfrm>
          <a:prstGeom prst="roundRect">
            <a:avLst>
              <a:gd name="adj" fmla="val 8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63856" y="10972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🎓 M15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0" y="91440"/>
            <a:ext cx="868680" cy="420624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69696" y="10972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🚀 M18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603504"/>
            <a:ext cx="624840" cy="237744"/>
          </a:xfrm>
          <a:prstGeom prst="rect">
            <a:avLst/>
          </a:prstGeom>
          <a:solidFill>
            <a:srgbClr val="226B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952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952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436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36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603504"/>
            <a:ext cx="624840" cy="237744"/>
          </a:xfrm>
          <a:prstGeom prst="rect">
            <a:avLst/>
          </a:prstGeom>
          <a:solidFill>
            <a:srgbClr val="226B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404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404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88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888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603504"/>
            <a:ext cx="624840" cy="237744"/>
          </a:xfrm>
          <a:prstGeom prst="rect">
            <a:avLst/>
          </a:prstGeom>
          <a:solidFill>
            <a:srgbClr val="226B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2856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856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340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40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603504"/>
            <a:ext cx="624840" cy="237744"/>
          </a:xfrm>
          <a:prstGeom prst="rect">
            <a:avLst/>
          </a:prstGeom>
          <a:solidFill>
            <a:srgbClr val="226B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308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308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2792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2792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59" y="603504"/>
            <a:ext cx="624840" cy="237744"/>
          </a:xfrm>
          <a:prstGeom prst="rect">
            <a:avLst/>
          </a:prstGeom>
          <a:solidFill>
            <a:srgbClr val="226B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77599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77599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90244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90244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527280" y="603504"/>
            <a:ext cx="624840" cy="237744"/>
          </a:xfrm>
          <a:prstGeom prst="rect">
            <a:avLst/>
          </a:prstGeom>
          <a:solidFill>
            <a:srgbClr val="226B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52728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15212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5212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76960" y="603504"/>
            <a:ext cx="624840" cy="237744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76960" y="621792"/>
            <a:ext cx="62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841248"/>
            <a:ext cx="3749039" cy="128016"/>
          </a:xfrm>
          <a:prstGeom prst="rect">
            <a:avLst/>
          </a:prstGeom>
          <a:solidFill>
            <a:srgbClr val="33805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54680" y="850392"/>
            <a:ext cx="374903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Año 1 · Sem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841248"/>
            <a:ext cx="3749039" cy="128016"/>
          </a:xfrm>
          <a:prstGeom prst="rect">
            <a:avLst/>
          </a:prstGeom>
          <a:solidFill>
            <a:srgbClr val="1A50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850392"/>
            <a:ext cx="374903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Año 1 · Sem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52759" y="841248"/>
            <a:ext cx="3749039" cy="128016"/>
          </a:xfrm>
          <a:prstGeom prst="rect">
            <a:avLst/>
          </a:prstGeom>
          <a:solidFill>
            <a:srgbClr val="5A2D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52759" y="850392"/>
            <a:ext cx="374903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Año 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987552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8600" y="987552"/>
            <a:ext cx="50292" cy="336499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1024128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F1 · Alcance, requisitos y contratos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54680" y="1028700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8600" y="1324051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8600" y="1324051"/>
            <a:ext cx="50292" cy="336499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1360627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F1 · Arquitectura y diseño de base de datos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154680" y="1365199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8600" y="1660550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8600" y="1660550"/>
            <a:ext cx="50292" cy="336499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1697126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F1 · Sistema de diseño y manual de marca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79520" y="1701698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8600" y="1997049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8600" y="1997049"/>
            <a:ext cx="50292" cy="336499"/>
          </a:xfrm>
          <a:prstGeom prst="rect">
            <a:avLst/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0896" y="2033625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F2 · Servidor, hosting, CDN y dominio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779520" y="2038197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" y="2333548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28600" y="2333548"/>
            <a:ext cx="50292" cy="336499"/>
          </a:xfrm>
          <a:prstGeom prst="rect">
            <a:avLst/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" y="2370124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F2 · Base de datos + autenticación + roles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04360" y="2374696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600" y="2670047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" y="2670047"/>
            <a:ext cx="50292" cy="336499"/>
          </a:xfrm>
          <a:prstGeom prst="rect">
            <a:avLst/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2706623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F2 · Seguridad, backups y monitoreo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04360" y="2711195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8600" y="3006547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" y="3006547"/>
            <a:ext cx="50292" cy="336499"/>
          </a:xfrm>
          <a:prstGeom prst="rect">
            <a:avLst/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0896" y="3043123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F3 · Frontend base + sistema i18n ES/EN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79520" y="3047695"/>
            <a:ext cx="2462784" cy="254203"/>
          </a:xfrm>
          <a:prstGeom prst="roundRect">
            <a:avLst>
              <a:gd name="adj" fmla="val 20000"/>
            </a:avLst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8600" y="3343046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28600" y="3343046"/>
            <a:ext cx="50292" cy="336499"/>
          </a:xfrm>
          <a:prstGeom prst="rect">
            <a:avLst/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3379622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F3 · API REST y panel CMS (backend)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04360" y="3384194"/>
            <a:ext cx="2462784" cy="254203"/>
          </a:xfrm>
          <a:prstGeom prst="roundRect">
            <a:avLst>
              <a:gd name="adj" fmla="val 20000"/>
            </a:avLst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8600" y="3679545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28600" y="3679545"/>
            <a:ext cx="50292" cy="336499"/>
          </a:xfrm>
          <a:prstGeom prst="rect">
            <a:avLst/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3716121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F3 · CDN de imágenes y optimización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404360" y="3720693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8600" y="4016044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28600" y="4016044"/>
            <a:ext cx="50292" cy="336499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0896" y="4052620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F4 · Módulo Bio — desarrollo (mapa, listado, ficha)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79520" y="4057192"/>
            <a:ext cx="2462784" cy="254203"/>
          </a:xfrm>
          <a:prstGeom prst="roundRect">
            <a:avLst>
              <a:gd name="adj" fmla="val 20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28600" y="4352544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28600" y="4352544"/>
            <a:ext cx="50292" cy="336499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" y="4389120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F4 · Carga primeras 75 especies (50%)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779520" y="4393692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28600" y="4689043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28600" y="4689043"/>
            <a:ext cx="50292" cy="336499"/>
          </a:xfrm>
          <a:prstGeom prst="rect">
            <a:avLst/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10896" y="4725619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F4 · Fotografía profesional 150 spp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779520" y="4730191"/>
            <a:ext cx="4337304" cy="254203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28600" y="5025542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28600" y="5025542"/>
            <a:ext cx="50292" cy="336499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0896" y="5062118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F4 · Carga 75 especies restantes (100%)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029200" y="5066690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28600" y="5362041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28600" y="5362041"/>
            <a:ext cx="50292" cy="336499"/>
          </a:xfrm>
          <a:prstGeom prst="rect">
            <a:avLst/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0896" y="5398617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F4 · Revisión taxonómica con expertos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29200" y="5403189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28600" y="5698540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" y="5698540"/>
            <a:ext cx="50292" cy="336499"/>
          </a:xfrm>
          <a:prstGeom prst="rect">
            <a:avLst/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10896" y="5735116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F5 · Módulo Agua — desarrollo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654040" y="5739688"/>
            <a:ext cx="3087624" cy="254203"/>
          </a:xfrm>
          <a:prstGeom prst="roundRect">
            <a:avLst>
              <a:gd name="adj" fmla="val 20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" y="6035040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" y="6035040"/>
            <a:ext cx="50292" cy="336499"/>
          </a:xfrm>
          <a:prstGeom prst="rect">
            <a:avLst/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10896" y="6071616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F5 · Integración GIS/IDEAM + GeoJSON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78880" y="6076188"/>
            <a:ext cx="1837943" cy="254203"/>
          </a:xfrm>
          <a:prstGeom prst="roundRect">
            <a:avLst>
              <a:gd name="adj" fmla="val 20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28600" y="6371539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8600" y="6371539"/>
            <a:ext cx="50292" cy="336499"/>
          </a:xfrm>
          <a:prstGeom prst="rect">
            <a:avLst/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10896" y="6408115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F5 · Validación con Corantioquia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28560" y="6412687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28600" y="6708038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28600" y="6708038"/>
            <a:ext cx="50292" cy="336499"/>
          </a:xfrm>
          <a:prstGeom prst="rect">
            <a:avLst/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10896" y="6744614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F6 · Módulo Comunidad — desarrollo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903720" y="6749186"/>
            <a:ext cx="4337304" cy="254203"/>
          </a:xfrm>
          <a:prstGeom prst="roundRect">
            <a:avLst>
              <a:gd name="adj" fmla="val 20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28600" y="7044537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28600" y="7044537"/>
            <a:ext cx="50292" cy="336499"/>
          </a:xfrm>
          <a:prstGeom prst="rect">
            <a:avLst/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10896" y="7081113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F6 · Integración datos Gobernación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778240" y="7085685"/>
            <a:ext cx="3087624" cy="254203"/>
          </a:xfrm>
          <a:prstGeom prst="roundRect">
            <a:avLst>
              <a:gd name="adj" fmla="val 20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28600" y="7381036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28600" y="7381036"/>
            <a:ext cx="50292" cy="336499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10896" y="7417612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F6 · UAT con usuarios Gobernación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52759" y="7422184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28600" y="7717536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28600" y="7717536"/>
            <a:ext cx="50292" cy="336499"/>
          </a:xfrm>
          <a:prstGeom prst="rect">
            <a:avLst/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10896" y="7754112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F7 · Redacción 150 descripciones bilingüe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404360" y="7758684"/>
            <a:ext cx="4962144" cy="254203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28600" y="8054035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28600" y="8054035"/>
            <a:ext cx="50292" cy="336499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10896" y="8090611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F8 · QA interno y pruebas de carga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778240" y="8095183"/>
            <a:ext cx="2462784" cy="254203"/>
          </a:xfrm>
          <a:prstGeom prst="roundRect">
            <a:avLst>
              <a:gd name="adj" fmla="val 20000"/>
            </a:avLst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28600" y="8390534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28600" y="8390534"/>
            <a:ext cx="50292" cy="336499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0896" y="8427110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F8 · Auditoría de seguridad (pentesting)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652759" y="8431682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28600" y="8727033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28600" y="8727033"/>
            <a:ext cx="50292" cy="336499"/>
          </a:xfrm>
          <a:prstGeom prst="rect">
            <a:avLst/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10896" y="8763609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F9 · Config. producción y dominio .gov.co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1902440" y="8768181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28600" y="9063532"/>
            <a:ext cx="14173200" cy="33649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28600" y="9063532"/>
            <a:ext cx="50292" cy="336499"/>
          </a:xfrm>
          <a:prstGeom prst="rect">
            <a:avLst/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10896" y="9100108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F9 · Capacitación equipo Gobernación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2527280" y="9104680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28600" y="9400032"/>
            <a:ext cx="14173200" cy="336499"/>
          </a:xfrm>
          <a:prstGeom prst="rect">
            <a:avLst/>
          </a:prstGeom>
          <a:solidFill>
            <a:srgbClr val="F0F3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28600" y="9400032"/>
            <a:ext cx="50292" cy="336499"/>
          </a:xfrm>
          <a:prstGeom prst="rect">
            <a:avLst/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10896" y="9436608"/>
            <a:ext cx="2807208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0">
                <a:solidFill>
                  <a:srgbClr val="1A2E1A"/>
                </a:solidFill>
                <a:latin typeface="Calibri"/>
              </a:rPr>
              <a:t>F9 · Lanzamiento oficial + soporte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3152120" y="9441180"/>
            <a:ext cx="1213104" cy="254203"/>
          </a:xfrm>
          <a:prstGeom prst="roundRect">
            <a:avLst>
              <a:gd name="adj" fmla="val 20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4716780" y="969264"/>
            <a:ext cx="0" cy="8812987"/>
          </a:xfrm>
          <a:prstGeom prst="line">
            <a:avLst/>
          </a:prstGeom>
          <a:ln w="27940">
            <a:solidFill>
              <a:srgbClr val="018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ounded Rectangle 161"/>
          <p:cNvSpPr/>
          <p:nvPr/>
        </p:nvSpPr>
        <p:spPr>
          <a:xfrm>
            <a:off x="4387596" y="621792"/>
            <a:ext cx="658368" cy="320040"/>
          </a:xfrm>
          <a:prstGeom prst="roundRect">
            <a:avLst>
              <a:gd name="adj" fmla="val 8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387596" y="6217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🌿 E1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6591300" y="969264"/>
            <a:ext cx="0" cy="8812987"/>
          </a:xfrm>
          <a:prstGeom prst="line">
            <a:avLst/>
          </a:prstGeom>
          <a:ln w="27940">
            <a:solidFill>
              <a:srgbClr val="0B5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/>
          <p:cNvSpPr/>
          <p:nvPr/>
        </p:nvSpPr>
        <p:spPr>
          <a:xfrm>
            <a:off x="6262115" y="621792"/>
            <a:ext cx="658368" cy="320040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262115" y="6217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✅ E2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8465820" y="969264"/>
            <a:ext cx="0" cy="8812987"/>
          </a:xfrm>
          <a:prstGeom prst="line">
            <a:avLst/>
          </a:prstGeom>
          <a:ln w="27940">
            <a:solidFill>
              <a:srgbClr val="006D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unded Rectangle 167"/>
          <p:cNvSpPr/>
          <p:nvPr/>
        </p:nvSpPr>
        <p:spPr>
          <a:xfrm>
            <a:off x="8136636" y="621792"/>
            <a:ext cx="658368" cy="320040"/>
          </a:xfrm>
          <a:prstGeom prst="roundRect">
            <a:avLst>
              <a:gd name="adj" fmla="val 8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136636" y="6217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💧 E3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2214860" y="969264"/>
            <a:ext cx="0" cy="8812987"/>
          </a:xfrm>
          <a:prstGeom prst="line">
            <a:avLst/>
          </a:prstGeom>
          <a:ln w="27940">
            <a:solidFill>
              <a:srgbClr val="F28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11885676" y="621792"/>
            <a:ext cx="658368" cy="320040"/>
          </a:xfrm>
          <a:prstGeom prst="roundRect">
            <a:avLst>
              <a:gd name="adj" fmla="val 8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1885676" y="6217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🎓 E4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4089380" y="969264"/>
            <a:ext cx="0" cy="8812987"/>
          </a:xfrm>
          <a:prstGeom prst="line">
            <a:avLst/>
          </a:prstGeom>
          <a:ln w="27940">
            <a:solidFill>
              <a:srgbClr val="8E5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13760196" y="621792"/>
            <a:ext cx="658368" cy="320040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3760196" y="6217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🚀 E5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20040" y="980053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7A8D"/>
                </a:solidFill>
                <a:latin typeface="Calibri"/>
              </a:rPr>
              <a:t>Fases →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60119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06423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F1 Planificación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2423160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569464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F2 Infraestructura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886200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032504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F3 Dev Core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349240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495544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F4 Biodiversidad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812279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958583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F5 Agua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8275319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421624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F6 Comunidad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9738359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884663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F7 Contenidos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1201399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347703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F8 Testing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2664439" y="9827971"/>
            <a:ext cx="118872" cy="146304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2810743" y="9800539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2E1A"/>
                </a:solidFill>
                <a:latin typeface="Calibri"/>
              </a:rPr>
              <a:t>F9 Lanzamiento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371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Fases del Proyecto · Descripción Detallada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749808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749808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863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786384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005840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Planificación y 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Definición de alcance y requisitos
Arquitectura de sistema y base de datos
Sistema de diseño (Manual Gobernación)
Configuración del entorno de desarrollo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4608" y="749808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64608" y="749808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1A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7863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786384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005840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Infraestructura y 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335024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Servidor, hosting y dominio .gov.co
Base de datos relacional (PostgreSQL)
Autenticación JWT, roles y permisos
CDN, backups y protocolo de seguridad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749808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5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73184" y="749808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3561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7863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1904" y="786384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2–5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1005840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Desarrollo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1" y="1335024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Frontend HTML/CSS/JS + sistema i18n
API REST y panel CMS
Sistema de gestión de imágenes
Optimización móvil y caché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3145536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18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" y="3145536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1821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182112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2–6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3401568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Módulo Biodiversidad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30752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★ Mes 3: Demo al Gobernador (75 spp)
★ Mes 6: Módulo completo (150 spp)
Mapa SVG · Listado · Ficha · Galería
Fotografía y revisión taxonómica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4608" y="3145536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64608" y="3145536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31821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3182112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5–9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3401568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Módulo Agua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4336" y="3730752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★ Mes 9: Módulo Agua implementado
Datos IDEAM/GIS · GeoJSON · Leaflet
Fichas por subregión: ríos y cuencas
Validación con Corantioquia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73184" y="3145536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3145536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64624" y="31821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1904" y="3182112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7–15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3401568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Módulo Comunidad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1" y="3730752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★ Mes 15: Módulo Comunidad listo
Becas Jóvenes pa' Lante
Mapa 125 municipios · Panel gestión
Integración sistemas Gobernación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" y="5541264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6032" y="5541264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57784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4752" y="557784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3–11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5797296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Contenidos y Fotografía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1264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150 fichas bilingüe (ES/EN)
Fotografía profesional de campo
Revisión editorial y taxonómica
Carga progresiva al CMS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64608" y="5541264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0F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864608" y="5541264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56048" y="557784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557784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10–17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6048" y="5797296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Testing y Seguridad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4336" y="61264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QA interno + pruebas de carga
Pentesting (OWASP Top 10)
UAT con usuarios Gobernación
Cumplimiento ley 1581 datos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73184" y="5541264"/>
            <a:ext cx="44988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E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473184" y="5541264"/>
            <a:ext cx="4498848" cy="512064"/>
          </a:xfrm>
          <a:prstGeom prst="roundRect">
            <a:avLst>
              <a:gd name="adj" fmla="val 10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64624" y="557784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CC"/>
                </a:solidFill>
                <a:latin typeface="Calibri"/>
              </a:rPr>
              <a:t>Fase 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1904" y="557784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Meses 15–18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64624" y="5797296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Despliegue y Lanzamiento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82911" y="61264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2E1A"/>
                </a:solidFill>
                <a:latin typeface="Calibri"/>
              </a:rPr>
              <a:t>Dominio oficial + producción
QR oficial impreso
Capacitación equipo
Monitoreo y plan de soporte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371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Equipo, Seguridad y Presupuesto Orientativo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749808"/>
            <a:ext cx="6675120" cy="347472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77724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👥  Equipo recomendado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54864" cy="786384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35024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2E1A"/>
                </a:solidFill>
                <a:latin typeface="Calibri"/>
              </a:rPr>
              <a:t>🧑‍💻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161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1A"/>
                </a:solidFill>
                <a:latin typeface="Calibri"/>
              </a:rPr>
              <a:t>Desarrollador Full-Stack (Líder)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4475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5640"/>
                </a:solidFill>
                <a:latin typeface="Calibri"/>
              </a:rPr>
              <a:t>Full-time · 18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4592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B7A8D"/>
                </a:solidFill>
                <a:latin typeface="Calibri"/>
              </a:rPr>
              <a:t>Frontend · Backend API · CMS · Módulos ·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2011680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011680"/>
            <a:ext cx="54864" cy="786384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176272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2E1A"/>
                </a:solidFill>
                <a:latin typeface="Calibri"/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0574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1A"/>
                </a:solidFill>
                <a:latin typeface="Calibri"/>
              </a:rPr>
              <a:t>Diseñador UI/UX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28600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5640"/>
                </a:solidFill>
                <a:latin typeface="Calibri"/>
              </a:rPr>
              <a:t>Full-time 6 m · Part-time 12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487168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B7A8D"/>
                </a:solidFill>
                <a:latin typeface="Calibri"/>
              </a:rPr>
              <a:t>Sistema diseño · Prototipado · Pruebas usabilidad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" y="2852928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852928"/>
            <a:ext cx="54864" cy="786384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01752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2E1A"/>
                </a:solidFill>
                <a:latin typeface="Calibri"/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8986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1A"/>
                </a:solidFill>
                <a:latin typeface="Calibri"/>
              </a:rPr>
              <a:t>Fotógrafo naturalista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12724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5640"/>
                </a:solidFill>
                <a:latin typeface="Calibri"/>
              </a:rPr>
              <a:t>Full-time · 8 meses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328416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B7A8D"/>
                </a:solidFill>
                <a:latin typeface="Calibri"/>
              </a:rPr>
              <a:t>150 especies · Edición · Compresión · Clasificación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" y="3694176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694176"/>
            <a:ext cx="54864" cy="786384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85876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2E1A"/>
                </a:solidFill>
                <a:latin typeface="Calibri"/>
              </a:rPr>
              <a:t>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73989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1A"/>
                </a:solidFill>
                <a:latin typeface="Calibri"/>
              </a:rPr>
              <a:t>Biólogo / Curador científico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968496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5640"/>
                </a:solidFill>
                <a:latin typeface="Calibri"/>
              </a:rPr>
              <a:t>Part-time · 12 meses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169664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B7A8D"/>
                </a:solidFill>
                <a:latin typeface="Calibri"/>
              </a:rPr>
              <a:t>Fichas taxonómicas · Revisión · Traducción técnica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4535424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4535424"/>
            <a:ext cx="54864" cy="786384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70001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2E1A"/>
                </a:solidFill>
                <a:latin typeface="Calibri"/>
              </a:rP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8114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1A"/>
                </a:solidFill>
                <a:latin typeface="Calibri"/>
              </a:rPr>
              <a:t>Especialista en seguridad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809744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5640"/>
                </a:solidFill>
                <a:latin typeface="Calibri"/>
              </a:rPr>
              <a:t>Consultor · 2 meses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010912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B7A8D"/>
                </a:solidFill>
                <a:latin typeface="Calibri"/>
              </a:rPr>
              <a:t>Pentesting · OWASP · Cumplimiento ley 1581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" y="5376672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5376672"/>
            <a:ext cx="54864" cy="786384"/>
          </a:xfrm>
          <a:prstGeom prst="rect">
            <a:avLst/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5541264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2E1A"/>
                </a:solidFill>
                <a:latin typeface="Calibr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42239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1A"/>
                </a:solidFill>
                <a:latin typeface="Calibri"/>
              </a:rPr>
              <a:t>Coordinador de proyecto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65099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5640"/>
                </a:solidFill>
                <a:latin typeface="Calibri"/>
              </a:rPr>
              <a:t>Part-time · 18 meses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85216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B7A8D"/>
                </a:solidFill>
                <a:latin typeface="Calibri"/>
              </a:rPr>
              <a:t>Gestión · Reportes · Comunicación Gobernación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749808"/>
            <a:ext cx="7150608" cy="347472"/>
          </a:xfrm>
          <a:prstGeom prst="roundRect">
            <a:avLst>
              <a:gd name="adj" fmla="val 8000"/>
            </a:avLst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51775" y="77724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🔒  Seguridad y cumplimiento normativo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60" y="1170432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1170432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1243584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HTTPS forzado + certificados SSL (Let's Encrypt)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1618488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3760" y="1618488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51775" y="1691640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Autenticación JWT + roles (admin / editor / lector)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23760" y="2066543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23760" y="2066543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51775" y="2139696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Rate limiting · CORS · Headers de seguridad (CSP, HSTS)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3760" y="2514600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23760" y="2514600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51775" y="2587752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Ley 1581/2012 Colombia — protección de datos personales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23760" y="2962656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23760" y="2962656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51775" y="3035808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Backups automáticos diarios (retención 30 días mínimo)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23760" y="3410712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23760" y="3410712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51775" y="3483864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CDN para imágenes (Cloudflare / AWS CloudFront)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23760" y="3858768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23760" y="3858768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51775" y="3931920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Pentesting antes del lanzamiento — OWASP Top 10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23760" y="4306824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6350">
            <a:solidFill>
              <a:srgbClr val="F4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23760" y="4306824"/>
            <a:ext cx="45720" cy="402336"/>
          </a:xfrm>
          <a:prstGeom prst="rect">
            <a:avLst/>
          </a:prstGeom>
          <a:solidFill>
            <a:srgbClr val="A90F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51775" y="4379976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Logs de auditoría para todas las acciones de administración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23760" y="4864608"/>
            <a:ext cx="7150608" cy="347472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51775" y="489204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💰  Estimación presupuestal orientativa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23760" y="5266944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6350">
            <a:solidFill>
              <a:srgbClr val="F5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51775" y="5340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Desarrollo Full-Stack (18 meses)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435840" y="5340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E5F00"/>
                </a:solidFill>
                <a:latin typeface="Calibri"/>
              </a:rPr>
              <a:t>COP 90 – 130M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23760" y="5715000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6350">
            <a:solidFill>
              <a:srgbClr val="F5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51775" y="5788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Fotografía profesional (150 spp)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435840" y="5788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E5F00"/>
                </a:solidFill>
                <a:latin typeface="Calibri"/>
              </a:rPr>
              <a:t>COP 30 – 50M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23760" y="6163056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6350">
            <a:solidFill>
              <a:srgbClr val="F5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51775" y="6236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Curaduría científica + contenidos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35840" y="6236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E5F00"/>
                </a:solidFill>
                <a:latin typeface="Calibri"/>
              </a:rPr>
              <a:t>COP 20 – 35M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23760" y="6611112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6350">
            <a:solidFill>
              <a:srgbClr val="F5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51775" y="66842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Diseño UX/UI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435840" y="6684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E5F00"/>
                </a:solidFill>
                <a:latin typeface="Calibri"/>
              </a:rPr>
              <a:t>COP 15 – 25M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23760" y="7059168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6350">
            <a:solidFill>
              <a:srgbClr val="F5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51775" y="7132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Infraestructura y hosting (anual)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435840" y="7132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E5F00"/>
                </a:solidFill>
                <a:latin typeface="Calibri"/>
              </a:rPr>
              <a:t>COP 8 – 15M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23760" y="7507224"/>
            <a:ext cx="7150608" cy="4023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6350">
            <a:solidFill>
              <a:srgbClr val="F5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51775" y="75803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Auditoría de seguridad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35840" y="75803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E5F00"/>
                </a:solidFill>
                <a:latin typeface="Calibri"/>
              </a:rPr>
              <a:t>COP 8 – 12M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