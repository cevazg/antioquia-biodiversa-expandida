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obern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083981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Antioquia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C8E6C9"/>
                </a:solidFill>
                <a:latin typeface="Arial"/>
              </a:rPr>
              <a:t>Reunión de Expertos: Criterios de Evaluación y Análisis de Selección de Especies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9CCCB0"/>
                </a:solidFill>
                <a:latin typeface="Arial"/>
              </a:rPr>
              <a:t>Gobernación de Antioquia · Secretaría de Ambiente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AGENDA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De qué vamos a hablar hoy (20 minutos)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4206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18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B5640"/>
                </a:solidFill>
                <a:latin typeface="Arial"/>
              </a:rPr>
              <a:t>Parte 1
¿Qué es Antioquia Natural?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Arial"/>
              </a:rPr>
              <a:t>
Una introducción breve a la aplicación: para qué sirve, cómo se usa y qué contiene cada uno de sus módulos.
(≈ 8 minutos)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212080" cy="42062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18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B5640"/>
                </a:solidFill>
                <a:latin typeface="Arial"/>
              </a:rPr>
              <a:t>Parte 2
Criterios y propuesta de especies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Arial"/>
              </a:rPr>
              <a:t>
Cómo evaluamos qué especies incluir, y la propuesta de 158 especies lista para discusión del comité.
(≈ 12 minutos)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9CCCB0"/>
                </a:solidFill>
                <a:latin typeface="Arial"/>
              </a:rPr>
              <a:t>PARTE 1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¿Qué es Antioquia Natural?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8E6C9"/>
                </a:solidFill>
                <a:latin typeface="Arial"/>
              </a:rPr>
              <a:t>Una introducción no técnica a la aplicación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1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¿Qué es y cómo se usa?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Antioquia Natural es una aplicación web para </a:t>
            </a:r>
            <a:r>
              <a:rPr sz="1900" b="1">
                <a:solidFill>
                  <a:srgbClr val="333333"/>
                </a:solidFill>
                <a:latin typeface="Arial"/>
              </a:rPr>
              <a:t>consultar la biodiversidad, el agua y los programas comunitarios del departamento</a:t>
            </a:r>
            <a:r>
              <a:rPr sz="1900" b="0">
                <a:solidFill>
                  <a:srgbClr val="333333"/>
                </a:solidFill>
                <a:latin typeface="Arial"/>
              </a:rPr>
              <a:t>, pensada para el público general.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Se accede escaneando un </a:t>
            </a:r>
            <a:r>
              <a:rPr sz="1900" b="1">
                <a:solidFill>
                  <a:srgbClr val="333333"/>
                </a:solidFill>
                <a:latin typeface="Arial"/>
              </a:rPr>
              <a:t>código QR</a:t>
            </a:r>
            <a:r>
              <a:rPr sz="1900" b="0">
                <a:solidFill>
                  <a:srgbClr val="333333"/>
                </a:solidFill>
                <a:latin typeface="Arial"/>
              </a:rPr>
              <a:t> con el celular: no hay que instalar nada.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Funciona en </a:t>
            </a:r>
            <a:r>
              <a:rPr sz="1900" b="1">
                <a:solidFill>
                  <a:srgbClr val="333333"/>
                </a:solidFill>
                <a:latin typeface="Arial"/>
              </a:rPr>
              <a:t>español e inglés</a:t>
            </a:r>
            <a:r>
              <a:rPr sz="1900" b="0">
                <a:solidFill>
                  <a:srgbClr val="333333"/>
                </a:solidFill>
                <a:latin typeface="Arial"/>
              </a:rPr>
              <a:t>, pensada para uso en campo, colegios, senderos ecológicos y puntos de información turística.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Diseñada primero para </a:t>
            </a:r>
            <a:r>
              <a:rPr sz="1900" b="1">
                <a:solidFill>
                  <a:srgbClr val="333333"/>
                </a:solidFill>
                <a:latin typeface="Arial"/>
              </a:rPr>
              <a:t>celular</a:t>
            </a:r>
            <a:r>
              <a:rPr sz="1900" b="0">
                <a:solidFill>
                  <a:srgbClr val="333333"/>
                </a:solidFill>
                <a:latin typeface="Arial"/>
              </a:rPr>
              <a:t> (mobile-first): botones grandes, fotos, poco texto por pantalla.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1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Tres módulos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4114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18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B5640"/>
                </a:solidFill>
                <a:latin typeface="Arial"/>
              </a:rPr>
              <a:t>🌿 Biodiversidad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Arial"/>
              </a:rPr>
              <a:t>
Catálogo de flora y fauna del departamento, organizado por subregión y grupo (aves, mariposas, árboles,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566160" cy="4114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18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B5640"/>
                </a:solidFill>
                <a:latin typeface="Arial"/>
              </a:rPr>
              <a:t>💧 Agua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Arial"/>
              </a:rPr>
              <a:t>
Mapa de la red hídrica: cuencas principales y fuentes de agua que abastecen acueductos municipales.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566160" cy="4114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18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/>
            <a:r>
              <a:rPr sz="1800" b="1">
                <a:solidFill>
                  <a:srgbClr val="0B5640"/>
                </a:solidFill>
                <a:latin typeface="Arial"/>
              </a:rPr>
              <a:t>🤝 Comunidad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Arial"/>
              </a:rPr>
              <a:t>
Programas ciudadanos: Jóvenes pa' Lante y Guarda Cuencas: jóvenes y comunidades documentando su territorio con fotos.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1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Módulo Biodiversidad: qué encuentra el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El usuario navega por </a:t>
            </a:r>
            <a:r>
              <a:rPr sz="1900" b="1">
                <a:solidFill>
                  <a:srgbClr val="333333"/>
                </a:solidFill>
                <a:latin typeface="Arial"/>
              </a:rPr>
              <a:t>9 grupos</a:t>
            </a:r>
            <a:r>
              <a:rPr sz="1900" b="0">
                <a:solidFill>
                  <a:srgbClr val="333333"/>
                </a:solidFill>
                <a:latin typeface="Arial"/>
              </a:rPr>
              <a:t>: aves, anfibios y reptiles, mariposas, polillas, mamíferos, animales domésticos, peces de agua dulce, orquídeas y árboles nativos.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Puede buscar por </a:t>
            </a:r>
            <a:r>
              <a:rPr sz="1900" b="1">
                <a:solidFill>
                  <a:srgbClr val="333333"/>
                </a:solidFill>
                <a:latin typeface="Arial"/>
              </a:rPr>
              <a:t>subregión</a:t>
            </a:r>
            <a:r>
              <a:rPr sz="1900" b="0">
                <a:solidFill>
                  <a:srgbClr val="333333"/>
                </a:solidFill>
                <a:latin typeface="Arial"/>
              </a:rPr>
              <a:t> (las 9 subregiones de Antioquia) o directamente por nombre de especie.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Cada especie tiene una </a:t>
            </a:r>
            <a:r>
              <a:rPr sz="1900" b="1">
                <a:solidFill>
                  <a:srgbClr val="333333"/>
                </a:solidFill>
                <a:latin typeface="Arial"/>
              </a:rPr>
              <a:t>ficha</a:t>
            </a:r>
            <a:r>
              <a:rPr sz="1900" b="0">
                <a:solidFill>
                  <a:srgbClr val="333333"/>
                </a:solidFill>
                <a:latin typeface="Arial"/>
              </a:rPr>
              <a:t>: fotos, nombre común y científico, categoría de conservación (IUCN), distribución y una descripción bilingüe.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Es exactamente este catálogo, qué especies incluir y con qué criterio, el tema central de la reunión de hoy.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1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Módulo Comunidad: ciencia ciudadana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</a:t>
            </a:r>
            <a:r>
              <a:rPr sz="1900" b="1">
                <a:solidFill>
                  <a:srgbClr val="333333"/>
                </a:solidFill>
                <a:latin typeface="Arial"/>
              </a:rPr>
              <a:t>Jóvenes pa' Lante</a:t>
            </a:r>
            <a:r>
              <a:rPr sz="1900" b="0">
                <a:solidFill>
                  <a:srgbClr val="333333"/>
                </a:solidFill>
                <a:latin typeface="Arial"/>
              </a:rPr>
              <a:t>: jóvenes de 90 municipios suben fotos de biodiversidad observada en su territorio cada mes.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</a:t>
            </a:r>
            <a:r>
              <a:rPr sz="1900" b="1">
                <a:solidFill>
                  <a:srgbClr val="333333"/>
                </a:solidFill>
                <a:latin typeface="Arial"/>
              </a:rPr>
              <a:t>Guarda Cuencas</a:t>
            </a:r>
            <a:r>
              <a:rPr sz="1900" b="0">
                <a:solidFill>
                  <a:srgbClr val="333333"/>
                </a:solidFill>
                <a:latin typeface="Arial"/>
              </a:rPr>
              <a:t>: comunidades documentan el estado de las cuencas hídricas de su región.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</a:t>
            </a:r>
            <a:r>
              <a:rPr sz="1900" b="1">
                <a:solidFill>
                  <a:srgbClr val="333333"/>
                </a:solidFill>
                <a:latin typeface="Arial"/>
              </a:rPr>
              <a:t>Especie del Mes</a:t>
            </a:r>
            <a:r>
              <a:rPr sz="1900" b="0">
                <a:solidFill>
                  <a:srgbClr val="333333"/>
                </a:solidFill>
                <a:latin typeface="Arial"/>
              </a:rPr>
              <a:t>: una especie destacada mensualmente, con galería de avistamientos ciudadanos.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0">
                <a:solidFill>
                  <a:srgbClr val="333333"/>
                </a:solidFill>
                <a:latin typeface="Arial"/>
              </a:rPr>
              <a:t>●  Este módulo conecta directamente con el catálogo de especies: entre más completo y confiable sea el catálogo, más valor tiene lo que la comunidad reporta.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1 → 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El catálogo de especies es el corazón de la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058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333333"/>
                </a:solidFill>
                <a:latin typeface="Arial"/>
              </a:rPr>
              <a:t>Todo lo que acabamos de ver (el módulo de Biodiversidad, la Especie del Mes, lo que suben los jóvenes de los programas) depende de una sola decisión: qué especies incluimos en el catálogo, y con qué criterio.
De eso trata la segunda parte de esta reunión.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6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9CCCB0"/>
                </a:solidFill>
                <a:latin typeface="Arial"/>
              </a:rPr>
              <a:t>PARTE 2 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Arial"/>
              </a:rPr>
              <a:t>Criterios de Evaluación y Selección de Especies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8E6C9"/>
                </a:solidFill>
                <a:latin typeface="Arial"/>
              </a:rPr>
              <a:t>Cómo decidimos qué especies incluir en el catálogo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El reto: ¿cómo elegir qué especies incluir?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●  Antioquia tiene una biodiversidad enorme: no es posible ni deseable incluir todo desde el primer lanzamiento.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●  Necesitábamos un método </a:t>
            </a:r>
            <a:r>
              <a:rPr sz="2000" b="1">
                <a:solidFill>
                  <a:srgbClr val="333333"/>
                </a:solidFill>
                <a:latin typeface="Arial"/>
              </a:rPr>
              <a:t>objetivo y verificable</a:t>
            </a:r>
            <a:r>
              <a:rPr sz="2000" b="0">
                <a:solidFill>
                  <a:srgbClr val="333333"/>
                </a:solidFill>
                <a:latin typeface="Arial"/>
              </a:rPr>
              <a:t>, no una selección a criterio personal, que el comité pudiera revisar y ajustar.</a:t>
            </a:r>
          </a:p>
          <a:p>
            <a:pPr>
              <a:lnSpc>
                <a:spcPct val="105000"/>
              </a:lnSpc>
              <a:spcAft>
                <a:spcPts val="2600"/>
              </a:spcAft>
            </a:pPr>
            <a:r>
              <a:rPr sz="2000" b="0">
                <a:solidFill>
                  <a:srgbClr val="333333"/>
                </a:solidFill>
                <a:latin typeface="Arial"/>
              </a:rPr>
              <a:t>●  La solución: un sistema de </a:t>
            </a:r>
            <a:r>
              <a:rPr sz="2000" b="1">
                <a:solidFill>
                  <a:srgbClr val="333333"/>
                </a:solidFill>
                <a:latin typeface="Arial"/>
              </a:rPr>
              <a:t>puntaje</a:t>
            </a:r>
            <a:r>
              <a:rPr sz="2000" b="0">
                <a:solidFill>
                  <a:srgbClr val="333333"/>
                </a:solidFill>
                <a:latin typeface="Arial"/>
              </a:rPr>
              <a:t> con 7 criterios técnicos, aplicado especie por especie.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La metodología: 7 criterios, puntaje de 0 a 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029200"/>
                <a:gridCol w="1737359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Qué mide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Puntaje máximo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P1 · Estado de conservación (IUCN)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Qué tan amenazada está la especie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P2 · Endemismo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Si es exclusiva de Antioquia, los Andes o Colombia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P3 · Rol ecológico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Qué tan insustituible es en su ecosistema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P4 · Representación geográfica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Si cubre subregiones poco representadas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P5 · Atractivo (reconocibilidad + historia + valor cultural)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Qué tan fácil es que conecte con el público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P6 · Disponibilidad de foto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Qué tan fácil es conseguir una foto de calidad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P7 · Diversidad taxonómica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Si evita repetir familias ya cubiertas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De puntaje a decisión: 4 categorías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554480"/>
          <a:ext cx="9052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50292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Decisión recomendada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≥ 80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Prioritaria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Debe estar en la versión 1.0 sin excepción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60 – 79</a:t>
                      </a:r>
                    </a:p>
                  </a:txBody>
                  <a:tcPr anchor="ctr">
                    <a:solidFill>
                      <a:srgbClr val="FFF5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Recomendada</a:t>
                      </a:r>
                    </a:p>
                  </a:txBody>
                  <a:tcPr anchor="ctr">
                    <a:solidFill>
                      <a:srgbClr val="FFF59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Incluir dentro del cupo disponible del grupo</a:t>
                      </a:r>
                    </a:p>
                  </a:txBody>
                  <a:tcPr anchor="ctr">
                    <a:solidFill>
                      <a:srgbClr val="FFF59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40 – 59</a:t>
                      </a:r>
                    </a:p>
                  </a:txBody>
                  <a:tcPr anchor="ctr">
                    <a:solidFill>
                      <a:srgbClr val="FFC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Condicional</a:t>
                      </a:r>
                    </a:p>
                  </a:txBody>
                  <a:tcPr anchor="ctr">
                    <a:solidFill>
                      <a:srgbClr val="FFC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Incluir si hay cupo y cumple cuota mínima</a:t>
                      </a:r>
                    </a:p>
                  </a:txBody>
                  <a:tcPr anchor="ctr">
                    <a:solidFill>
                      <a:srgbClr val="FFCC8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&lt; 40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Lista de espera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333333"/>
                          </a:solidFill>
                          <a:latin typeface="Arial"/>
                        </a:rPr>
                        <a:t>Reservar para Fase 2 o reemplazos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120640"/>
            <a:ext cx="9052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rial"/>
              </a:rPr>
              <a:t>Fuentes de información: Lista Roja de la IUCN, Libros Rojos de Colombia (Instituto Humboldt), SiB Colombia y literatura científica sobre biodiversidad antioqueña.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La propuesta: 158 especies para discusión del comité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Hoy la app tiene 117 especies documentadas en vivo. La propuesta que sometemos a discusión del comité expande el catálogo a 158.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88135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820"/>
                <a:gridCol w="1892410"/>
                <a:gridCol w="2365513"/>
                <a:gridCol w="2838615"/>
              </a:tblGrid>
              <a:tr h="357447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Propuestas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Prioritarias (≥80)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 foto lista (A/B)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Aves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Anfibios y Reptiles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Mariposas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Orquídeas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Árboles Nativos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Peces de Agua Dulce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Mamíferos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Polillas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Animales Domésticos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anchor="ctr">
                    <a:solidFill>
                      <a:srgbClr val="A5D6A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Especies insignia: los casos más urgentes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18872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Especie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Grupo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Por qué es urgente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Prochilodus magdalenae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Peces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CR + especie clave de la pesca artesanal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Ateles hybridus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Mamíferos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CR + uno de los 25 primates más amenazados del mundo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Crax alberti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Aves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CR + endémica de Colombia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Lipaugus weberi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EN + endémica exclusiva de Antioquia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Tremarctos ornatus (oso de anteojos)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Mamíferos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VU + especie paraguas de los Andes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Bos taurus BON (Blanco Orejinegro)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An. Domésticos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Raza criolla antioqueña en riesgo de desplazamiento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Cobertura por subregión: una brecha detectada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Las 158 especies propuestas están distribuidas en las 9 subregiones de Antioquia, con un mínimo de 15 especies por subregión.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Bajo Cauca y Magdalena Medio quedaron con menor cobertura</a:t>
            </a:r>
            <a:r>
              <a:rPr sz="1800" b="0">
                <a:solidFill>
                  <a:srgbClr val="333333"/>
                </a:solidFill>
                <a:latin typeface="Arial"/>
              </a:rPr>
              <a:t>: sus ecosistemas de bosque seco y humedales están sub-representados en esta primera propuesta.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3657600"/>
          <a:ext cx="8869679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836"/>
                <a:gridCol w="2015836"/>
                <a:gridCol w="4838007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Subregión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Total especies propuestas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Comentario</a:t>
                      </a:r>
                    </a:p>
                  </a:txBody>
                  <a:tcPr anchor="ctr">
                    <a:solidFill>
                      <a:srgbClr val="018D3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Bajo Cauca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Menor cobertura: faltan peces de ciénaga y reptiles acuáticos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Magdalena Medio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Arial"/>
                        </a:rPr>
                        <a:t>Menor cobertura: mismo tipo de ecosistema</a:t>
                      </a:r>
                    </a:p>
                  </a:txBody>
                  <a:tcPr anchor="ctr">
                    <a:solidFill>
                      <a:srgbClr val="EF9A9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18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ctr"/>
            <a:r>
              <a:rPr sz="1200" b="1">
                <a:solidFill>
                  <a:srgbClr val="E8F5E9"/>
                </a:solidFill>
                <a:latin typeface="Arial"/>
              </a:rPr>
              <a:t>PARTE 2</a:t>
            </a:r>
          </a:p>
          <a:p>
            <a:r>
              <a:rPr sz="2600" b="1">
                <a:solidFill>
                  <a:srgbClr val="FFFFFF"/>
                </a:solidFill>
                <a:latin typeface="Arial"/>
              </a:rPr>
              <a:t>Lo que le pedimos al comité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Antioquia Natural · Reunión de Expertos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1. Validar el puntaje de estado de conservación (P1)</a:t>
            </a:r>
            <a:r>
              <a:rPr sz="1800" b="0">
                <a:solidFill>
                  <a:srgbClr val="333333"/>
                </a:solidFill>
                <a:latin typeface="Arial"/>
              </a:rPr>
              <a:t> contra los Libros Rojos colombianos, más restrictivos en varios casos que la IUCN global.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2. Reforzar Bajo Cauca y Magdalena Medio</a:t>
            </a:r>
            <a:r>
              <a:rPr sz="1800" b="0">
                <a:solidFill>
                  <a:srgbClr val="333333"/>
                </a:solidFill>
                <a:latin typeface="Arial"/>
              </a:rPr>
              <a:t> con especies de ecosistemas acuáticos y de bosque seco.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3. Resolver 8 cupos adicionales</a:t>
            </a:r>
            <a:r>
              <a:rPr sz="1800" b="0">
                <a:solidFill>
                  <a:srgbClr val="333333"/>
                </a:solidFill>
                <a:latin typeface="Arial"/>
              </a:rPr>
              <a:t> entre los grupos más ricos, o especies urgentes que el comité identifique y no estén en esta propuesta.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4. Priorizar la gestión fotográfica</a:t>
            </a:r>
            <a:r>
              <a:rPr sz="1800" b="0">
                <a:solidFill>
                  <a:srgbClr val="333333"/>
                </a:solidFill>
                <a:latin typeface="Arial"/>
              </a:rPr>
              <a:t>: 35 de las 158 especies aún no tienen foto lista; se necesita apoyo de Instituto Humboldt, CORANTIOQUIA, ProAves y universidades.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●  </a:t>
            </a:r>
            <a:r>
              <a:rPr sz="1800" b="1">
                <a:solidFill>
                  <a:srgbClr val="333333"/>
                </a:solidFill>
                <a:latin typeface="Arial"/>
              </a:rPr>
              <a:t>5. Aprobar una lista de espera de 40 especies adicionales</a:t>
            </a:r>
            <a:r>
              <a:rPr sz="1800" b="0">
                <a:solidFill>
                  <a:srgbClr val="333333"/>
                </a:solidFill>
                <a:latin typeface="Arial"/>
              </a:rPr>
              <a:t>, para reemplazos y para una Fase 2 del catálogo.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6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gobern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822960"/>
            <a:ext cx="1763369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C8E6C9"/>
                </a:solidFill>
                <a:latin typeface="Arial"/>
              </a:rPr>
              <a:t>Quedamos atentos a la retroalimentación del comité sobre los 5 puntos de la lámina anterior.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CCCB0"/>
                </a:solidFill>
                <a:latin typeface="Arial"/>
              </a:rPr>
              <a:t>Antioquia Natural · Gobernación de Antioquia · Secretaría de Ambiente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