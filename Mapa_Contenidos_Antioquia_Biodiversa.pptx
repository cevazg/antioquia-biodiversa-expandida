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60" r:id="rId4"/>
    <p:sldId id="256" r:id="rId5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9" userDrawn="1">
          <p15:clr>
            <a:srgbClr val="A4A3A4"/>
          </p15:clr>
        </p15:guide>
        <p15:guide id="2" pos="2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48"/>
  </p:normalViewPr>
  <p:slideViewPr>
    <p:cSldViewPr snapToGrid="0" snapToObjects="1">
      <p:cViewPr varScale="1">
        <p:scale>
          <a:sx n="68" d="100"/>
          <a:sy n="68" d="100"/>
        </p:scale>
        <p:origin x="256" y="968"/>
      </p:cViewPr>
      <p:guideLst>
        <p:guide orient="horz" pos="1639"/>
        <p:guide pos="286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640080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371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 err="1">
                <a:solidFill>
                  <a:srgbClr val="FFFFFF"/>
                </a:solidFill>
                <a:latin typeface="Calibri"/>
              </a:rPr>
              <a:t>Arquitectura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 General de </a:t>
            </a:r>
            <a:r>
              <a:rPr sz="1800" b="1" i="0" dirty="0" err="1">
                <a:solidFill>
                  <a:srgbClr val="FFFFFF"/>
                </a:solidFill>
                <a:latin typeface="Calibri"/>
              </a:rPr>
              <a:t>Navegación</a:t>
            </a:r>
            <a:r>
              <a:rPr lang="es-ES" sz="1800" b="1" i="0" dirty="0">
                <a:solidFill>
                  <a:srgbClr val="FFFFFF"/>
                </a:solidFill>
                <a:latin typeface="Calibri"/>
              </a:rPr>
              <a:t> inicial</a:t>
            </a:r>
            <a:endParaRPr sz="1800" b="1" i="0" dirty="0">
              <a:solidFill>
                <a:srgbClr val="FFFFFF"/>
              </a:solidFill>
              <a:latin typeface="Calibri"/>
            </a:endParaRPr>
          </a:p>
        </p:txBody>
      </p:sp>
      <p:grpSp>
        <p:nvGrpSpPr>
          <p:cNvPr id="81" name="Grupo 80">
            <a:extLst>
              <a:ext uri="{FF2B5EF4-FFF2-40B4-BE49-F238E27FC236}">
                <a16:creationId xmlns:a16="http://schemas.microsoft.com/office/drawing/2014/main" id="{7E64B288-DD34-A981-180A-AF19869EF071}"/>
              </a:ext>
            </a:extLst>
          </p:cNvPr>
          <p:cNvGrpSpPr/>
          <p:nvPr/>
        </p:nvGrpSpPr>
        <p:grpSpPr>
          <a:xfrm>
            <a:off x="2667602" y="1056947"/>
            <a:ext cx="2377440" cy="822960"/>
            <a:chOff x="1371600" y="914400"/>
            <a:chExt cx="2377440" cy="822960"/>
          </a:xfrm>
        </p:grpSpPr>
        <p:sp>
          <p:nvSpPr>
            <p:cNvPr id="5" name="Rounded Rectangle 4"/>
            <p:cNvSpPr/>
            <p:nvPr/>
          </p:nvSpPr>
          <p:spPr>
            <a:xfrm>
              <a:off x="1371600" y="914400"/>
              <a:ext cx="2377440" cy="82296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DE3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17320" y="941832"/>
              <a:ext cx="228600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1" i="0">
                  <a:solidFill>
                    <a:srgbClr val="6B7A8D"/>
                  </a:solidFill>
                  <a:latin typeface="Calibri"/>
                </a:rPr>
                <a:t>index.html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417320" y="1143000"/>
              <a:ext cx="22860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1A2E1A"/>
                  </a:solidFill>
                  <a:latin typeface="Calibri"/>
                </a:rPr>
                <a:t>Selección de idioma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17320" y="1389888"/>
              <a:ext cx="22860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0" i="0">
                  <a:solidFill>
                    <a:srgbClr val="6B7A8D"/>
                  </a:solidFill>
                  <a:latin typeface="Calibri"/>
                </a:rPr>
                <a:t>🇨🇴 ES  ·  🇺🇸 EN</a:t>
              </a:r>
            </a:p>
          </p:txBody>
        </p:sp>
      </p:grpSp>
      <p:grpSp>
        <p:nvGrpSpPr>
          <p:cNvPr id="131" name="Grupo 130">
            <a:extLst>
              <a:ext uri="{FF2B5EF4-FFF2-40B4-BE49-F238E27FC236}">
                <a16:creationId xmlns:a16="http://schemas.microsoft.com/office/drawing/2014/main" id="{3886B84F-6DF5-5D87-9EEB-C350D4A86561}"/>
              </a:ext>
            </a:extLst>
          </p:cNvPr>
          <p:cNvGrpSpPr/>
          <p:nvPr/>
        </p:nvGrpSpPr>
        <p:grpSpPr>
          <a:xfrm>
            <a:off x="5751628" y="1468427"/>
            <a:ext cx="2743200" cy="1005840"/>
            <a:chOff x="4206240" y="822960"/>
            <a:chExt cx="2743200" cy="1005840"/>
          </a:xfrm>
        </p:grpSpPr>
        <p:sp>
          <p:nvSpPr>
            <p:cNvPr id="10" name="Rounded Rectangle 9"/>
            <p:cNvSpPr/>
            <p:nvPr/>
          </p:nvSpPr>
          <p:spPr>
            <a:xfrm>
              <a:off x="4206240" y="822960"/>
              <a:ext cx="2743200" cy="1005840"/>
            </a:xfrm>
            <a:prstGeom prst="roundRect">
              <a:avLst>
                <a:gd name="adj" fmla="val 8000"/>
              </a:avLst>
            </a:prstGeom>
            <a:solidFill>
              <a:srgbClr val="E6F4EC"/>
            </a:solidFill>
            <a:ln w="25400">
              <a:solidFill>
                <a:srgbClr val="018D3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251960" y="850392"/>
              <a:ext cx="265176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1" i="0">
                  <a:solidFill>
                    <a:srgbClr val="018D38"/>
                  </a:solidFill>
                  <a:latin typeface="Calibri"/>
                </a:rPr>
                <a:t>home.html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51960" y="1060704"/>
              <a:ext cx="26517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 i="0" dirty="0">
                  <a:solidFill>
                    <a:srgbClr val="0B5640"/>
                  </a:solidFill>
                  <a:latin typeface="Calibri"/>
                </a:rPr>
                <a:t>Hub principal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251960" y="1335024"/>
              <a:ext cx="26517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200" dirty="0">
                  <a:solidFill>
                    <a:srgbClr val="6B7A8D"/>
                  </a:solidFill>
                  <a:latin typeface="Calibri"/>
                </a:rPr>
                <a:t>1</a:t>
              </a:r>
              <a:r>
                <a:rPr sz="1200" b="0" i="0" dirty="0">
                  <a:solidFill>
                    <a:srgbClr val="6B7A8D"/>
                  </a:solidFill>
                  <a:latin typeface="Calibri"/>
                </a:rPr>
                <a:t> </a:t>
              </a:r>
              <a:r>
                <a:rPr lang="es-CO" sz="1200" b="0" i="0" dirty="0">
                  <a:solidFill>
                    <a:srgbClr val="6B7A8D"/>
                  </a:solidFill>
                  <a:latin typeface="Calibri"/>
                </a:rPr>
                <a:t>módulo</a:t>
              </a:r>
              <a:endParaRPr sz="1200" b="0" i="0" dirty="0">
                <a:solidFill>
                  <a:srgbClr val="6B7A8D"/>
                </a:solidFill>
                <a:latin typeface="Calibri"/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FFF6E2AB-005D-CC03-8EDC-10889FE4A21F}"/>
              </a:ext>
            </a:extLst>
          </p:cNvPr>
          <p:cNvGrpSpPr/>
          <p:nvPr/>
        </p:nvGrpSpPr>
        <p:grpSpPr>
          <a:xfrm>
            <a:off x="5473499" y="2518015"/>
            <a:ext cx="3356507" cy="4700357"/>
            <a:chOff x="228600" y="1965619"/>
            <a:chExt cx="3994545" cy="4700357"/>
          </a:xfrm>
        </p:grpSpPr>
        <p:cxnSp>
          <p:nvCxnSpPr>
            <p:cNvPr id="14" name="Connector 13"/>
            <p:cNvCxnSpPr>
              <a:cxnSpLocks/>
            </p:cNvCxnSpPr>
            <p:nvPr/>
          </p:nvCxnSpPr>
          <p:spPr>
            <a:xfrm>
              <a:off x="2103120" y="1965619"/>
              <a:ext cx="0" cy="320381"/>
            </a:xfrm>
            <a:prstGeom prst="line">
              <a:avLst/>
            </a:prstGeom>
            <a:ln w="19050">
              <a:solidFill>
                <a:srgbClr val="6B7A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upo 81">
              <a:extLst>
                <a:ext uri="{FF2B5EF4-FFF2-40B4-BE49-F238E27FC236}">
                  <a16:creationId xmlns:a16="http://schemas.microsoft.com/office/drawing/2014/main" id="{F5A1375A-7D35-B358-1B69-BF8006C76055}"/>
                </a:ext>
              </a:extLst>
            </p:cNvPr>
            <p:cNvGrpSpPr/>
            <p:nvPr/>
          </p:nvGrpSpPr>
          <p:grpSpPr>
            <a:xfrm>
              <a:off x="539496" y="2286000"/>
              <a:ext cx="3666744" cy="457198"/>
              <a:chOff x="274320" y="2286000"/>
              <a:chExt cx="3931920" cy="502920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274320" y="2286000"/>
                <a:ext cx="3931920" cy="502920"/>
              </a:xfrm>
              <a:prstGeom prst="roundRect">
                <a:avLst>
                  <a:gd name="adj" fmla="val 8000"/>
                </a:avLst>
              </a:prstGeom>
              <a:solidFill>
                <a:srgbClr val="0B5640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365760" y="2322576"/>
                <a:ext cx="3749039" cy="411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300" b="1" i="0">
                    <a:solidFill>
                      <a:srgbClr val="FFFFFF"/>
                    </a:solidFill>
                    <a:latin typeface="Calibri"/>
                  </a:rPr>
                  <a:t>🌿  BIODIVERSIDAD</a:t>
                </a:r>
              </a:p>
            </p:txBody>
          </p:sp>
        </p:grpSp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0E0F381E-3C24-2CD1-42F2-A6A821502D4B}"/>
                </a:ext>
              </a:extLst>
            </p:cNvPr>
            <p:cNvGrpSpPr/>
            <p:nvPr/>
          </p:nvGrpSpPr>
          <p:grpSpPr>
            <a:xfrm>
              <a:off x="228600" y="2816352"/>
              <a:ext cx="3931920" cy="713232"/>
              <a:chOff x="274320" y="2880360"/>
              <a:chExt cx="3931920" cy="713232"/>
            </a:xfrm>
          </p:grpSpPr>
          <p:sp>
            <p:nvSpPr>
              <p:cNvPr id="19" name="Rounded Rectangle 18"/>
              <p:cNvSpPr/>
              <p:nvPr/>
            </p:nvSpPr>
            <p:spPr>
              <a:xfrm>
                <a:off x="274320" y="2880360"/>
                <a:ext cx="3931920" cy="713232"/>
              </a:xfrm>
              <a:prstGeom prst="roundRect">
                <a:avLst>
                  <a:gd name="adj" fmla="val 8000"/>
                </a:avLst>
              </a:prstGeom>
              <a:solidFill>
                <a:srgbClr val="F4F6F9"/>
              </a:solidFill>
              <a:ln w="19050">
                <a:solidFill>
                  <a:srgbClr val="018D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274320" y="2880360"/>
                <a:ext cx="36576" cy="713232"/>
              </a:xfrm>
              <a:prstGeom prst="rect">
                <a:avLst/>
              </a:prstGeom>
              <a:solidFill>
                <a:srgbClr val="018D38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365760" y="2916936"/>
                <a:ext cx="3794759" cy="164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00" b="1" i="0" dirty="0" err="1">
                    <a:solidFill>
                      <a:srgbClr val="018D38"/>
                    </a:solidFill>
                    <a:latin typeface="Calibri"/>
                  </a:rPr>
                  <a:t>biodiversidad.html</a:t>
                </a:r>
                <a:endParaRPr sz="700" b="1" i="0" dirty="0">
                  <a:solidFill>
                    <a:srgbClr val="018D38"/>
                  </a:solidFill>
                  <a:latin typeface="Calibri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365760" y="3063240"/>
                <a:ext cx="3794759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>
                    <a:solidFill>
                      <a:srgbClr val="1A2E1A"/>
                    </a:solidFill>
                    <a:latin typeface="Calibri"/>
                  </a:rPr>
                  <a:t>Inicio módulo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365760" y="3255264"/>
                <a:ext cx="3794759" cy="237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Stats, </a:t>
                </a:r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modos</a:t>
                </a:r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 de </a:t>
                </a:r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búsqueda</a:t>
                </a:r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, </a:t>
                </a:r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acceso</a:t>
                </a:r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 </a:t>
                </a:r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rápido</a:t>
                </a:r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 </a:t>
                </a:r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por</a:t>
                </a:r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 </a:t>
                </a:r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grupo</a:t>
                </a:r>
                <a:endParaRPr sz="750" b="0" i="0" dirty="0">
                  <a:solidFill>
                    <a:srgbClr val="6B7A8D"/>
                  </a:solidFill>
                  <a:latin typeface="Calibri"/>
                </a:endParaRPr>
              </a:p>
            </p:txBody>
          </p:sp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1062479C-2D71-D4A2-2575-46FDF814C9C3}"/>
                </a:ext>
              </a:extLst>
            </p:cNvPr>
            <p:cNvGrpSpPr/>
            <p:nvPr/>
          </p:nvGrpSpPr>
          <p:grpSpPr>
            <a:xfrm>
              <a:off x="483249" y="3604437"/>
              <a:ext cx="3703320" cy="713232"/>
              <a:chOff x="502920" y="3648456"/>
              <a:chExt cx="3703320" cy="713232"/>
            </a:xfrm>
          </p:grpSpPr>
          <p:sp>
            <p:nvSpPr>
              <p:cNvPr id="24" name="Rounded Rectangle 23"/>
              <p:cNvSpPr/>
              <p:nvPr/>
            </p:nvSpPr>
            <p:spPr>
              <a:xfrm>
                <a:off x="502920" y="3648456"/>
                <a:ext cx="3703320" cy="713232"/>
              </a:xfrm>
              <a:prstGeom prst="roundRect">
                <a:avLst>
                  <a:gd name="adj" fmla="val 8000"/>
                </a:avLst>
              </a:prstGeom>
              <a:solidFill>
                <a:srgbClr val="F4F6F9"/>
              </a:solidFill>
              <a:ln w="19050">
                <a:solidFill>
                  <a:srgbClr val="018D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502920" y="3648456"/>
                <a:ext cx="36576" cy="713232"/>
              </a:xfrm>
              <a:prstGeom prst="rect">
                <a:avLst/>
              </a:prstGeom>
              <a:solidFill>
                <a:srgbClr val="018D38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594360" y="3685031"/>
                <a:ext cx="3566160" cy="164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00" b="1" i="0">
                    <a:solidFill>
                      <a:srgbClr val="018D38"/>
                    </a:solidFill>
                    <a:latin typeface="Calibri"/>
                  </a:rPr>
                  <a:t>mapa.html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594360" y="3831335"/>
                <a:ext cx="3566160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>
                    <a:solidFill>
                      <a:srgbClr val="1A2E1A"/>
                    </a:solidFill>
                    <a:latin typeface="Calibri"/>
                  </a:rPr>
                  <a:t>Mapa interactivo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594361" y="4023359"/>
                <a:ext cx="3566160" cy="2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9 </a:t>
                </a:r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subregiones</a:t>
                </a:r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 </a:t>
                </a:r>
                <a:r>
                  <a:rPr lang="es-ES" sz="750" b="0" i="0" dirty="0">
                    <a:solidFill>
                      <a:srgbClr val="6B7A8D"/>
                    </a:solidFill>
                    <a:latin typeface="Calibri"/>
                  </a:rPr>
                  <a:t>seleccionables</a:t>
                </a:r>
                <a:endParaRPr sz="750" b="0" i="0" dirty="0">
                  <a:solidFill>
                    <a:srgbClr val="6B7A8D"/>
                  </a:solidFill>
                  <a:latin typeface="Calibri"/>
                </a:endParaRPr>
              </a:p>
            </p:txBody>
          </p:sp>
        </p:grpSp>
        <p:grpSp>
          <p:nvGrpSpPr>
            <p:cNvPr id="85" name="Grupo 84">
              <a:extLst>
                <a:ext uri="{FF2B5EF4-FFF2-40B4-BE49-F238E27FC236}">
                  <a16:creationId xmlns:a16="http://schemas.microsoft.com/office/drawing/2014/main" id="{65B5DE9C-EF72-E193-82E5-1EE68A32D8D8}"/>
                </a:ext>
              </a:extLst>
            </p:cNvPr>
            <p:cNvGrpSpPr/>
            <p:nvPr/>
          </p:nvGrpSpPr>
          <p:grpSpPr>
            <a:xfrm>
              <a:off x="731520" y="4416552"/>
              <a:ext cx="3474720" cy="713232"/>
              <a:chOff x="731520" y="4416552"/>
              <a:chExt cx="3474720" cy="713232"/>
            </a:xfrm>
          </p:grpSpPr>
          <p:sp>
            <p:nvSpPr>
              <p:cNvPr id="29" name="Rounded Rectangle 28"/>
              <p:cNvSpPr/>
              <p:nvPr/>
            </p:nvSpPr>
            <p:spPr>
              <a:xfrm>
                <a:off x="731520" y="4416552"/>
                <a:ext cx="3474720" cy="713232"/>
              </a:xfrm>
              <a:prstGeom prst="roundRect">
                <a:avLst>
                  <a:gd name="adj" fmla="val 8000"/>
                </a:avLst>
              </a:prstGeom>
              <a:solidFill>
                <a:srgbClr val="F4F6F9"/>
              </a:solidFill>
              <a:ln w="19050">
                <a:solidFill>
                  <a:srgbClr val="018D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731520" y="4416552"/>
                <a:ext cx="36576" cy="713232"/>
              </a:xfrm>
              <a:prstGeom prst="rect">
                <a:avLst/>
              </a:prstGeom>
              <a:solidFill>
                <a:srgbClr val="018D38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822960" y="4453128"/>
                <a:ext cx="3337560" cy="164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00" b="1" i="0">
                    <a:solidFill>
                      <a:srgbClr val="018D38"/>
                    </a:solidFill>
                    <a:latin typeface="Calibri"/>
                  </a:rPr>
                  <a:t>subregion.html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822960" y="4599432"/>
                <a:ext cx="3337560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 dirty="0" err="1">
                    <a:solidFill>
                      <a:srgbClr val="1A2E1A"/>
                    </a:solidFill>
                    <a:latin typeface="Calibri"/>
                  </a:rPr>
                  <a:t>Grupos</a:t>
                </a:r>
                <a:r>
                  <a:rPr sz="900" b="1" i="0" dirty="0">
                    <a:solidFill>
                      <a:srgbClr val="1A2E1A"/>
                    </a:solidFill>
                    <a:latin typeface="Calibri"/>
                  </a:rPr>
                  <a:t> bio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822960" y="4791456"/>
                <a:ext cx="3337560" cy="237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50" b="0" i="0">
                    <a:solidFill>
                      <a:srgbClr val="6B7A8D"/>
                    </a:solidFill>
                    <a:latin typeface="Calibri"/>
                  </a:rPr>
                  <a:t>Aves · Anfibios · Mariposas · Polillas · Orquídeas · Mamíferos</a:t>
                </a:r>
              </a:p>
            </p:txBody>
          </p:sp>
        </p:grpSp>
        <p:grpSp>
          <p:nvGrpSpPr>
            <p:cNvPr id="86" name="Grupo 85">
              <a:extLst>
                <a:ext uri="{FF2B5EF4-FFF2-40B4-BE49-F238E27FC236}">
                  <a16:creationId xmlns:a16="http://schemas.microsoft.com/office/drawing/2014/main" id="{6380D22B-E874-3251-AAC8-86E652245DF5}"/>
                </a:ext>
              </a:extLst>
            </p:cNvPr>
            <p:cNvGrpSpPr/>
            <p:nvPr/>
          </p:nvGrpSpPr>
          <p:grpSpPr>
            <a:xfrm>
              <a:off x="519825" y="5187093"/>
              <a:ext cx="3703320" cy="713232"/>
              <a:chOff x="502920" y="5184648"/>
              <a:chExt cx="3703320" cy="713232"/>
            </a:xfrm>
          </p:grpSpPr>
          <p:sp>
            <p:nvSpPr>
              <p:cNvPr id="34" name="Rounded Rectangle 33"/>
              <p:cNvSpPr/>
              <p:nvPr/>
            </p:nvSpPr>
            <p:spPr>
              <a:xfrm>
                <a:off x="502920" y="5184648"/>
                <a:ext cx="3703320" cy="713232"/>
              </a:xfrm>
              <a:prstGeom prst="roundRect">
                <a:avLst>
                  <a:gd name="adj" fmla="val 8000"/>
                </a:avLst>
              </a:prstGeom>
              <a:solidFill>
                <a:srgbClr val="F4F6F9"/>
              </a:solidFill>
              <a:ln w="19050">
                <a:solidFill>
                  <a:srgbClr val="018D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502920" y="5184648"/>
                <a:ext cx="36576" cy="713232"/>
              </a:xfrm>
              <a:prstGeom prst="rect">
                <a:avLst/>
              </a:prstGeom>
              <a:solidFill>
                <a:srgbClr val="018D38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594360" y="5221224"/>
                <a:ext cx="3566160" cy="164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00" b="1" i="0">
                    <a:solidFill>
                      <a:srgbClr val="018D38"/>
                    </a:solidFill>
                    <a:latin typeface="Calibri"/>
                  </a:rPr>
                  <a:t>listado.html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594360" y="5367528"/>
                <a:ext cx="3566160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 dirty="0" err="1">
                    <a:solidFill>
                      <a:srgbClr val="1A2E1A"/>
                    </a:solidFill>
                    <a:latin typeface="Calibri"/>
                  </a:rPr>
                  <a:t>Familias</a:t>
                </a:r>
                <a:r>
                  <a:rPr sz="900" b="1" i="0" dirty="0">
                    <a:solidFill>
                      <a:srgbClr val="1A2E1A"/>
                    </a:solidFill>
                    <a:latin typeface="Calibri"/>
                  </a:rPr>
                  <a:t> y </a:t>
                </a:r>
                <a:r>
                  <a:rPr sz="900" b="1" i="0" dirty="0" err="1">
                    <a:solidFill>
                      <a:srgbClr val="1A2E1A"/>
                    </a:solidFill>
                    <a:latin typeface="Calibri"/>
                  </a:rPr>
                  <a:t>especies</a:t>
                </a:r>
                <a:endParaRPr sz="900" b="1" i="0" dirty="0">
                  <a:solidFill>
                    <a:srgbClr val="1A2E1A"/>
                  </a:solidFill>
                  <a:latin typeface="Calibri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94361" y="5559552"/>
                <a:ext cx="3566160" cy="2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Acordeón</a:t>
                </a:r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 · </a:t>
                </a:r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Búsqueda</a:t>
                </a:r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 · </a:t>
                </a:r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Filtros</a:t>
                </a:r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  [</a:t>
                </a:r>
                <a:r>
                  <a:rPr lang="es-CO" sz="750" b="0" i="0" dirty="0">
                    <a:solidFill>
                      <a:srgbClr val="6B7A8D"/>
                    </a:solidFill>
                    <a:latin typeface="Calibri"/>
                  </a:rPr>
                  <a:t>?</a:t>
                </a:r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subregion= </a:t>
                </a:r>
                <a:r>
                  <a:rPr lang="es-CO" sz="750" b="0" i="0" dirty="0">
                    <a:solidFill>
                      <a:srgbClr val="6B7A8D"/>
                    </a:solidFill>
                    <a:latin typeface="Calibri"/>
                  </a:rPr>
                  <a:t>&amp;</a:t>
                </a:r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grupo</a:t>
                </a:r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=]</a:t>
                </a:r>
                <a:r>
                  <a:rPr lang="es-ES" sz="750" b="0" i="0" dirty="0">
                    <a:solidFill>
                      <a:srgbClr val="6B7A8D"/>
                    </a:solidFill>
                    <a:latin typeface="Calibri"/>
                  </a:rPr>
                  <a:t> </a:t>
                </a:r>
                <a:r>
                  <a:rPr lang="es-CO" sz="750" b="0" i="0" dirty="0">
                    <a:solidFill>
                      <a:srgbClr val="6B7A8D"/>
                    </a:solidFill>
                    <a:latin typeface="Calibri"/>
                  </a:rPr>
                  <a:t>· 150 especies </a:t>
                </a:r>
                <a:endParaRPr sz="750" b="0" i="0" dirty="0">
                  <a:solidFill>
                    <a:srgbClr val="6B7A8D"/>
                  </a:solidFill>
                  <a:latin typeface="Calibri"/>
                </a:endParaRPr>
              </a:p>
            </p:txBody>
          </p:sp>
        </p:grpSp>
        <p:grpSp>
          <p:nvGrpSpPr>
            <p:cNvPr id="87" name="Grupo 86">
              <a:extLst>
                <a:ext uri="{FF2B5EF4-FFF2-40B4-BE49-F238E27FC236}">
                  <a16:creationId xmlns:a16="http://schemas.microsoft.com/office/drawing/2014/main" id="{6445B772-AD9F-E91C-60B7-9E3E4EAC8F17}"/>
                </a:ext>
              </a:extLst>
            </p:cNvPr>
            <p:cNvGrpSpPr/>
            <p:nvPr/>
          </p:nvGrpSpPr>
          <p:grpSpPr>
            <a:xfrm>
              <a:off x="731520" y="5952744"/>
              <a:ext cx="3474720" cy="713232"/>
              <a:chOff x="731520" y="5952744"/>
              <a:chExt cx="3474720" cy="713232"/>
            </a:xfrm>
          </p:grpSpPr>
          <p:sp>
            <p:nvSpPr>
              <p:cNvPr id="39" name="Rounded Rectangle 38"/>
              <p:cNvSpPr/>
              <p:nvPr/>
            </p:nvSpPr>
            <p:spPr>
              <a:xfrm>
                <a:off x="731520" y="5952744"/>
                <a:ext cx="3474720" cy="713232"/>
              </a:xfrm>
              <a:prstGeom prst="roundRect">
                <a:avLst>
                  <a:gd name="adj" fmla="val 8000"/>
                </a:avLst>
              </a:prstGeom>
              <a:solidFill>
                <a:srgbClr val="F4F6F9"/>
              </a:solidFill>
              <a:ln w="19050">
                <a:solidFill>
                  <a:srgbClr val="018D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731520" y="5952744"/>
                <a:ext cx="36576" cy="713232"/>
              </a:xfrm>
              <a:prstGeom prst="rect">
                <a:avLst/>
              </a:prstGeom>
              <a:solidFill>
                <a:srgbClr val="018D38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822960" y="5989320"/>
                <a:ext cx="3337560" cy="164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00" b="1" i="0">
                    <a:solidFill>
                      <a:srgbClr val="018D38"/>
                    </a:solidFill>
                    <a:latin typeface="Calibri"/>
                  </a:rPr>
                  <a:t>especie.html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822960" y="6135624"/>
                <a:ext cx="3337560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>
                    <a:solidFill>
                      <a:srgbClr val="1A2E1A"/>
                    </a:solidFill>
                    <a:latin typeface="Calibri"/>
                  </a:rPr>
                  <a:t>Ficha de especie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822961" y="6327648"/>
                <a:ext cx="3337560" cy="2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Galería</a:t>
                </a:r>
                <a:r>
                  <a:rPr lang="es-ES" sz="750" b="0" i="0" dirty="0">
                    <a:solidFill>
                      <a:srgbClr val="6B7A8D"/>
                    </a:solidFill>
                    <a:latin typeface="Calibri"/>
                  </a:rPr>
                  <a:t> fotos</a:t>
                </a:r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 · IUCN · </a:t>
                </a:r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Distribución</a:t>
                </a:r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 · </a:t>
                </a:r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Descripción</a:t>
                </a:r>
                <a:endParaRPr sz="750" b="0" i="0" dirty="0">
                  <a:solidFill>
                    <a:srgbClr val="6B7A8D"/>
                  </a:solidFill>
                  <a:latin typeface="Calibri"/>
                </a:endParaRPr>
              </a:p>
            </p:txBody>
          </p:sp>
        </p:grpSp>
      </p:grpSp>
      <p:sp>
        <p:nvSpPr>
          <p:cNvPr id="73" name="Rounded Rectangle 72"/>
          <p:cNvSpPr/>
          <p:nvPr/>
        </p:nvSpPr>
        <p:spPr>
          <a:xfrm>
            <a:off x="274320" y="7635240"/>
            <a:ext cx="140817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4" name="Conector angular 133">
            <a:extLst>
              <a:ext uri="{FF2B5EF4-FFF2-40B4-BE49-F238E27FC236}">
                <a16:creationId xmlns:a16="http://schemas.microsoft.com/office/drawing/2014/main" id="{046C9D9D-2A67-8730-1AB3-A93C2F11C555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090762" y="1491259"/>
            <a:ext cx="660866" cy="480088"/>
          </a:xfrm>
          <a:prstGeom prst="bentConnector3">
            <a:avLst>
              <a:gd name="adj1" fmla="val 50000"/>
            </a:avLst>
          </a:prstGeom>
          <a:ln w="19050">
            <a:solidFill>
              <a:srgbClr val="6B7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10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640080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371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 err="1">
                <a:solidFill>
                  <a:srgbClr val="FFFFFF"/>
                </a:solidFill>
                <a:latin typeface="Calibri"/>
              </a:rPr>
              <a:t>Arquitectura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 General de </a:t>
            </a:r>
            <a:r>
              <a:rPr sz="1800" b="1" i="0" dirty="0" err="1">
                <a:solidFill>
                  <a:srgbClr val="FFFFFF"/>
                </a:solidFill>
                <a:latin typeface="Calibri"/>
              </a:rPr>
              <a:t>Navegación</a:t>
            </a:r>
            <a:r>
              <a:rPr lang="es-ES" sz="1800" b="1" i="0" dirty="0">
                <a:solidFill>
                  <a:srgbClr val="FFFFFF"/>
                </a:solidFill>
                <a:latin typeface="Calibri"/>
              </a:rPr>
              <a:t> actualizada</a:t>
            </a:r>
            <a:endParaRPr sz="1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371600" y="91440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320" y="9418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7A8D"/>
                </a:solidFill>
                <a:latin typeface="Calibri"/>
              </a:rPr>
              <a:t>index.html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143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E1A"/>
                </a:solidFill>
                <a:latin typeface="Calibri"/>
              </a:rPr>
              <a:t>Selección de idioma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89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A8D"/>
                </a:solidFill>
                <a:latin typeface="Calibri"/>
              </a:rPr>
              <a:t>🇨🇴 ES  ·  🇺🇸 EN</a:t>
            </a:r>
          </a:p>
        </p:txBody>
      </p:sp>
      <p:grpSp>
        <p:nvGrpSpPr>
          <p:cNvPr id="131" name="Grupo 130">
            <a:extLst>
              <a:ext uri="{FF2B5EF4-FFF2-40B4-BE49-F238E27FC236}">
                <a16:creationId xmlns:a16="http://schemas.microsoft.com/office/drawing/2014/main" id="{3886B84F-6DF5-5D87-9EEB-C350D4A86561}"/>
              </a:ext>
            </a:extLst>
          </p:cNvPr>
          <p:cNvGrpSpPr/>
          <p:nvPr/>
        </p:nvGrpSpPr>
        <p:grpSpPr>
          <a:xfrm>
            <a:off x="5039783" y="1147908"/>
            <a:ext cx="2743200" cy="1005840"/>
            <a:chOff x="4206240" y="822960"/>
            <a:chExt cx="2743200" cy="1005840"/>
          </a:xfrm>
        </p:grpSpPr>
        <p:sp>
          <p:nvSpPr>
            <p:cNvPr id="10" name="Rounded Rectangle 9"/>
            <p:cNvSpPr/>
            <p:nvPr/>
          </p:nvSpPr>
          <p:spPr>
            <a:xfrm>
              <a:off x="4206240" y="822960"/>
              <a:ext cx="2743200" cy="1005840"/>
            </a:xfrm>
            <a:prstGeom prst="roundRect">
              <a:avLst>
                <a:gd name="adj" fmla="val 8000"/>
              </a:avLst>
            </a:prstGeom>
            <a:solidFill>
              <a:srgbClr val="E6F4EC"/>
            </a:solidFill>
            <a:ln w="25400">
              <a:solidFill>
                <a:srgbClr val="018D3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251960" y="850392"/>
              <a:ext cx="265176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1" i="0">
                  <a:solidFill>
                    <a:srgbClr val="018D38"/>
                  </a:solidFill>
                  <a:latin typeface="Calibri"/>
                </a:rPr>
                <a:t>home.html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51960" y="1060704"/>
              <a:ext cx="26517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>
                  <a:solidFill>
                    <a:srgbClr val="0B5640"/>
                  </a:solidFill>
                  <a:latin typeface="Calibri"/>
                </a:rPr>
                <a:t>Hub principal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251960" y="1335024"/>
              <a:ext cx="26517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 dirty="0">
                  <a:solidFill>
                    <a:srgbClr val="6B7A8D"/>
                  </a:solidFill>
                  <a:latin typeface="Calibri"/>
                </a:rPr>
                <a:t>3 </a:t>
              </a:r>
              <a:r>
                <a:rPr sz="1050" b="0" i="0" dirty="0" err="1">
                  <a:solidFill>
                    <a:srgbClr val="6B7A8D"/>
                  </a:solidFill>
                  <a:latin typeface="Calibri"/>
                </a:rPr>
                <a:t>módulos</a:t>
              </a:r>
              <a:r>
                <a:rPr sz="1050" b="0" i="0" dirty="0">
                  <a:solidFill>
                    <a:srgbClr val="6B7A8D"/>
                  </a:solidFill>
                  <a:latin typeface="Calibri"/>
                </a:rPr>
                <a:t> · </a:t>
              </a:r>
              <a:r>
                <a:rPr sz="1050" b="0" i="0" dirty="0" err="1">
                  <a:solidFill>
                    <a:srgbClr val="6B7A8D"/>
                  </a:solidFill>
                  <a:latin typeface="Calibri"/>
                </a:rPr>
                <a:t>Gobernación</a:t>
              </a:r>
              <a:r>
                <a:rPr sz="1050" b="0" i="0" dirty="0">
                  <a:solidFill>
                    <a:srgbClr val="6B7A8D"/>
                  </a:solidFill>
                  <a:latin typeface="Calibri"/>
                </a:rPr>
                <a:t> de Antioquia</a:t>
              </a:r>
            </a:p>
          </p:txBody>
        </p:sp>
      </p:grpSp>
      <p:cxnSp>
        <p:nvCxnSpPr>
          <p:cNvPr id="15" name="Connector 14"/>
          <p:cNvCxnSpPr>
            <a:cxnSpLocks/>
          </p:cNvCxnSpPr>
          <p:nvPr/>
        </p:nvCxnSpPr>
        <p:spPr>
          <a:xfrm>
            <a:off x="9148682" y="2496988"/>
            <a:ext cx="0" cy="338669"/>
          </a:xfrm>
          <a:prstGeom prst="line">
            <a:avLst/>
          </a:prstGeom>
          <a:ln w="19050">
            <a:solidFill>
              <a:srgbClr val="6B7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0" name="Grupo 89">
            <a:extLst>
              <a:ext uri="{FF2B5EF4-FFF2-40B4-BE49-F238E27FC236}">
                <a16:creationId xmlns:a16="http://schemas.microsoft.com/office/drawing/2014/main" id="{FFF6E2AB-005D-CC03-8EDC-10889FE4A21F}"/>
              </a:ext>
            </a:extLst>
          </p:cNvPr>
          <p:cNvGrpSpPr/>
          <p:nvPr/>
        </p:nvGrpSpPr>
        <p:grpSpPr>
          <a:xfrm>
            <a:off x="261417" y="2496988"/>
            <a:ext cx="3356507" cy="4700357"/>
            <a:chOff x="228600" y="1965619"/>
            <a:chExt cx="3994545" cy="4700357"/>
          </a:xfrm>
        </p:grpSpPr>
        <p:cxnSp>
          <p:nvCxnSpPr>
            <p:cNvPr id="14" name="Connector 13"/>
            <p:cNvCxnSpPr>
              <a:cxnSpLocks/>
            </p:cNvCxnSpPr>
            <p:nvPr/>
          </p:nvCxnSpPr>
          <p:spPr>
            <a:xfrm>
              <a:off x="2103120" y="1965619"/>
              <a:ext cx="0" cy="320381"/>
            </a:xfrm>
            <a:prstGeom prst="line">
              <a:avLst/>
            </a:prstGeom>
            <a:ln w="19050">
              <a:solidFill>
                <a:srgbClr val="6B7A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upo 81">
              <a:extLst>
                <a:ext uri="{FF2B5EF4-FFF2-40B4-BE49-F238E27FC236}">
                  <a16:creationId xmlns:a16="http://schemas.microsoft.com/office/drawing/2014/main" id="{F5A1375A-7D35-B358-1B69-BF8006C76055}"/>
                </a:ext>
              </a:extLst>
            </p:cNvPr>
            <p:cNvGrpSpPr/>
            <p:nvPr/>
          </p:nvGrpSpPr>
          <p:grpSpPr>
            <a:xfrm>
              <a:off x="539496" y="2286000"/>
              <a:ext cx="3666744" cy="457198"/>
              <a:chOff x="274320" y="2286000"/>
              <a:chExt cx="3931920" cy="502920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274320" y="2286000"/>
                <a:ext cx="3931920" cy="502920"/>
              </a:xfrm>
              <a:prstGeom prst="roundRect">
                <a:avLst>
                  <a:gd name="adj" fmla="val 8000"/>
                </a:avLst>
              </a:prstGeom>
              <a:solidFill>
                <a:srgbClr val="0B5640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365760" y="2322576"/>
                <a:ext cx="3749039" cy="411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300" b="1" i="0">
                    <a:solidFill>
                      <a:srgbClr val="FFFFFF"/>
                    </a:solidFill>
                    <a:latin typeface="Calibri"/>
                  </a:rPr>
                  <a:t>🌿  BIODIVERSIDAD</a:t>
                </a:r>
              </a:p>
            </p:txBody>
          </p:sp>
        </p:grpSp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0E0F381E-3C24-2CD1-42F2-A6A821502D4B}"/>
                </a:ext>
              </a:extLst>
            </p:cNvPr>
            <p:cNvGrpSpPr/>
            <p:nvPr/>
          </p:nvGrpSpPr>
          <p:grpSpPr>
            <a:xfrm>
              <a:off x="228600" y="2816352"/>
              <a:ext cx="3931920" cy="713232"/>
              <a:chOff x="274320" y="2880360"/>
              <a:chExt cx="3931920" cy="713232"/>
            </a:xfrm>
          </p:grpSpPr>
          <p:sp>
            <p:nvSpPr>
              <p:cNvPr id="19" name="Rounded Rectangle 18"/>
              <p:cNvSpPr/>
              <p:nvPr/>
            </p:nvSpPr>
            <p:spPr>
              <a:xfrm>
                <a:off x="274320" y="2880360"/>
                <a:ext cx="3931920" cy="713232"/>
              </a:xfrm>
              <a:prstGeom prst="roundRect">
                <a:avLst>
                  <a:gd name="adj" fmla="val 8000"/>
                </a:avLst>
              </a:prstGeom>
              <a:solidFill>
                <a:srgbClr val="F4F6F9"/>
              </a:solidFill>
              <a:ln w="19050">
                <a:solidFill>
                  <a:srgbClr val="018D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365760" y="2916936"/>
                <a:ext cx="3794759" cy="164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00" b="1" i="0" dirty="0" err="1">
                    <a:solidFill>
                      <a:srgbClr val="018D38"/>
                    </a:solidFill>
                    <a:latin typeface="Calibri"/>
                  </a:rPr>
                  <a:t>biodiversidad.html</a:t>
                </a:r>
                <a:endParaRPr sz="700" b="1" i="0" dirty="0">
                  <a:solidFill>
                    <a:srgbClr val="018D38"/>
                  </a:solidFill>
                  <a:latin typeface="Calibri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365760" y="3063240"/>
                <a:ext cx="3794759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>
                    <a:solidFill>
                      <a:srgbClr val="1A2E1A"/>
                    </a:solidFill>
                    <a:latin typeface="Calibri"/>
                  </a:rPr>
                  <a:t>Inicio módulo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365760" y="3255264"/>
                <a:ext cx="3794759" cy="237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50" b="0" i="0">
                    <a:solidFill>
                      <a:srgbClr val="6B7A8D"/>
                    </a:solidFill>
                    <a:latin typeface="Calibri"/>
                  </a:rPr>
                  <a:t>Stats, modos de búsqueda, acceso rápido por grupo</a:t>
                </a:r>
              </a:p>
            </p:txBody>
          </p:sp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1062479C-2D71-D4A2-2575-46FDF814C9C3}"/>
                </a:ext>
              </a:extLst>
            </p:cNvPr>
            <p:cNvGrpSpPr/>
            <p:nvPr/>
          </p:nvGrpSpPr>
          <p:grpSpPr>
            <a:xfrm>
              <a:off x="483249" y="3604437"/>
              <a:ext cx="3703320" cy="713232"/>
              <a:chOff x="502920" y="3648456"/>
              <a:chExt cx="3703320" cy="713232"/>
            </a:xfrm>
          </p:grpSpPr>
          <p:sp>
            <p:nvSpPr>
              <p:cNvPr id="24" name="Rounded Rectangle 23"/>
              <p:cNvSpPr/>
              <p:nvPr/>
            </p:nvSpPr>
            <p:spPr>
              <a:xfrm>
                <a:off x="502920" y="3648456"/>
                <a:ext cx="3703320" cy="713232"/>
              </a:xfrm>
              <a:prstGeom prst="roundRect">
                <a:avLst>
                  <a:gd name="adj" fmla="val 8000"/>
                </a:avLst>
              </a:prstGeom>
              <a:solidFill>
                <a:srgbClr val="F4F6F9"/>
              </a:solidFill>
              <a:ln w="19050">
                <a:solidFill>
                  <a:srgbClr val="018D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594360" y="3685031"/>
                <a:ext cx="3566160" cy="164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00" b="1" i="0">
                    <a:solidFill>
                      <a:srgbClr val="018D38"/>
                    </a:solidFill>
                    <a:latin typeface="Calibri"/>
                  </a:rPr>
                  <a:t>mapa.html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594360" y="3831335"/>
                <a:ext cx="3566160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>
                    <a:solidFill>
                      <a:srgbClr val="1A2E1A"/>
                    </a:solidFill>
                    <a:latin typeface="Calibri"/>
                  </a:rPr>
                  <a:t>Mapa interactivo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594360" y="4023359"/>
                <a:ext cx="3566160" cy="237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50" b="0" i="0">
                    <a:solidFill>
                      <a:srgbClr val="6B7A8D"/>
                    </a:solidFill>
                    <a:latin typeface="Calibri"/>
                  </a:rPr>
                  <a:t>SVG sobre JPG · 9 subregiones tocables</a:t>
                </a:r>
              </a:p>
            </p:txBody>
          </p:sp>
        </p:grpSp>
        <p:grpSp>
          <p:nvGrpSpPr>
            <p:cNvPr id="85" name="Grupo 84">
              <a:extLst>
                <a:ext uri="{FF2B5EF4-FFF2-40B4-BE49-F238E27FC236}">
                  <a16:creationId xmlns:a16="http://schemas.microsoft.com/office/drawing/2014/main" id="{65B5DE9C-EF72-E193-82E5-1EE68A32D8D8}"/>
                </a:ext>
              </a:extLst>
            </p:cNvPr>
            <p:cNvGrpSpPr/>
            <p:nvPr/>
          </p:nvGrpSpPr>
          <p:grpSpPr>
            <a:xfrm>
              <a:off x="731520" y="4416552"/>
              <a:ext cx="3474720" cy="713232"/>
              <a:chOff x="731520" y="4416552"/>
              <a:chExt cx="3474720" cy="713232"/>
            </a:xfrm>
          </p:grpSpPr>
          <p:sp>
            <p:nvSpPr>
              <p:cNvPr id="29" name="Rounded Rectangle 28"/>
              <p:cNvSpPr/>
              <p:nvPr/>
            </p:nvSpPr>
            <p:spPr>
              <a:xfrm>
                <a:off x="731520" y="4416552"/>
                <a:ext cx="3474720" cy="713232"/>
              </a:xfrm>
              <a:prstGeom prst="roundRect">
                <a:avLst>
                  <a:gd name="adj" fmla="val 8000"/>
                </a:avLst>
              </a:prstGeom>
              <a:solidFill>
                <a:srgbClr val="F4F6F9"/>
              </a:solidFill>
              <a:ln w="19050">
                <a:solidFill>
                  <a:srgbClr val="018D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822960" y="4453128"/>
                <a:ext cx="3337560" cy="164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00" b="1" i="0">
                    <a:solidFill>
                      <a:srgbClr val="018D38"/>
                    </a:solidFill>
                    <a:latin typeface="Calibri"/>
                  </a:rPr>
                  <a:t>subregion.html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822960" y="4599432"/>
                <a:ext cx="3337560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 dirty="0" err="1">
                    <a:solidFill>
                      <a:srgbClr val="1A2E1A"/>
                    </a:solidFill>
                    <a:latin typeface="Calibri"/>
                  </a:rPr>
                  <a:t>Grupos</a:t>
                </a:r>
                <a:r>
                  <a:rPr sz="900" b="1" i="0" dirty="0">
                    <a:solidFill>
                      <a:srgbClr val="1A2E1A"/>
                    </a:solidFill>
                    <a:latin typeface="Calibri"/>
                  </a:rPr>
                  <a:t> bio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822960" y="4791456"/>
                <a:ext cx="3337560" cy="237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50" b="0" i="0">
                    <a:solidFill>
                      <a:srgbClr val="6B7A8D"/>
                    </a:solidFill>
                    <a:latin typeface="Calibri"/>
                  </a:rPr>
                  <a:t>Aves · Anfibios · Mariposas · Polillas · Orquídeas · Mamíferos</a:t>
                </a:r>
              </a:p>
            </p:txBody>
          </p:sp>
        </p:grpSp>
        <p:grpSp>
          <p:nvGrpSpPr>
            <p:cNvPr id="86" name="Grupo 85">
              <a:extLst>
                <a:ext uri="{FF2B5EF4-FFF2-40B4-BE49-F238E27FC236}">
                  <a16:creationId xmlns:a16="http://schemas.microsoft.com/office/drawing/2014/main" id="{6380D22B-E874-3251-AAC8-86E652245DF5}"/>
                </a:ext>
              </a:extLst>
            </p:cNvPr>
            <p:cNvGrpSpPr/>
            <p:nvPr/>
          </p:nvGrpSpPr>
          <p:grpSpPr>
            <a:xfrm>
              <a:off x="519825" y="5187093"/>
              <a:ext cx="3703320" cy="713232"/>
              <a:chOff x="502920" y="5184648"/>
              <a:chExt cx="3703320" cy="713232"/>
            </a:xfrm>
          </p:grpSpPr>
          <p:sp>
            <p:nvSpPr>
              <p:cNvPr id="34" name="Rounded Rectangle 33"/>
              <p:cNvSpPr/>
              <p:nvPr/>
            </p:nvSpPr>
            <p:spPr>
              <a:xfrm>
                <a:off x="502920" y="5184648"/>
                <a:ext cx="3703320" cy="713232"/>
              </a:xfrm>
              <a:prstGeom prst="roundRect">
                <a:avLst>
                  <a:gd name="adj" fmla="val 8000"/>
                </a:avLst>
              </a:prstGeom>
              <a:solidFill>
                <a:srgbClr val="F4F6F9"/>
              </a:solidFill>
              <a:ln w="19050">
                <a:solidFill>
                  <a:srgbClr val="018D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594360" y="5221224"/>
                <a:ext cx="3566160" cy="164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00" b="1" i="0">
                    <a:solidFill>
                      <a:srgbClr val="018D38"/>
                    </a:solidFill>
                    <a:latin typeface="Calibri"/>
                  </a:rPr>
                  <a:t>listado.html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594360" y="5367528"/>
                <a:ext cx="3566160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>
                    <a:solidFill>
                      <a:srgbClr val="1A2E1A"/>
                    </a:solidFill>
                    <a:latin typeface="Calibri"/>
                  </a:rPr>
                  <a:t>Familias y especies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94361" y="5559552"/>
                <a:ext cx="3566160" cy="207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Acordeón</a:t>
                </a:r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 · </a:t>
                </a:r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Búsqueda</a:t>
                </a:r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 · </a:t>
                </a:r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Filtros</a:t>
                </a:r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  [?subregion= &amp;</a:t>
                </a:r>
                <a:r>
                  <a:rPr sz="750" b="0" i="0" dirty="0" err="1">
                    <a:solidFill>
                      <a:srgbClr val="6B7A8D"/>
                    </a:solidFill>
                    <a:latin typeface="Calibri"/>
                  </a:rPr>
                  <a:t>grupo</a:t>
                </a:r>
                <a:r>
                  <a:rPr sz="750" b="0" i="0" dirty="0">
                    <a:solidFill>
                      <a:srgbClr val="6B7A8D"/>
                    </a:solidFill>
                    <a:latin typeface="Calibri"/>
                  </a:rPr>
                  <a:t>=]</a:t>
                </a:r>
                <a:r>
                  <a:rPr lang="es-ES" sz="750" b="0" i="0" dirty="0">
                    <a:solidFill>
                      <a:srgbClr val="6B7A8D"/>
                    </a:solidFill>
                    <a:latin typeface="Calibri"/>
                  </a:rPr>
                  <a:t> </a:t>
                </a:r>
                <a:r>
                  <a:rPr lang="es-CO" sz="750" b="0" i="0" dirty="0">
                    <a:solidFill>
                      <a:srgbClr val="6B7A8D"/>
                    </a:solidFill>
                    <a:latin typeface="Calibri"/>
                  </a:rPr>
                  <a:t>· </a:t>
                </a:r>
                <a:r>
                  <a:rPr lang="es-CO" sz="750" b="0" i="0" dirty="0">
                    <a:solidFill>
                      <a:srgbClr val="FF0000"/>
                    </a:solidFill>
                    <a:latin typeface="Calibri"/>
                  </a:rPr>
                  <a:t>150 especies ??</a:t>
                </a:r>
                <a:endParaRPr sz="750" b="0" i="0" dirty="0">
                  <a:solidFill>
                    <a:srgbClr val="FF0000"/>
                  </a:solidFill>
                  <a:latin typeface="Calibri"/>
                </a:endParaRPr>
              </a:p>
            </p:txBody>
          </p:sp>
        </p:grpSp>
        <p:grpSp>
          <p:nvGrpSpPr>
            <p:cNvPr id="87" name="Grupo 86">
              <a:extLst>
                <a:ext uri="{FF2B5EF4-FFF2-40B4-BE49-F238E27FC236}">
                  <a16:creationId xmlns:a16="http://schemas.microsoft.com/office/drawing/2014/main" id="{6445B772-AD9F-E91C-60B7-9E3E4EAC8F17}"/>
                </a:ext>
              </a:extLst>
            </p:cNvPr>
            <p:cNvGrpSpPr/>
            <p:nvPr/>
          </p:nvGrpSpPr>
          <p:grpSpPr>
            <a:xfrm>
              <a:off x="731520" y="5952744"/>
              <a:ext cx="3474720" cy="713232"/>
              <a:chOff x="731520" y="5952744"/>
              <a:chExt cx="3474720" cy="713232"/>
            </a:xfrm>
          </p:grpSpPr>
          <p:sp>
            <p:nvSpPr>
              <p:cNvPr id="39" name="Rounded Rectangle 38"/>
              <p:cNvSpPr/>
              <p:nvPr/>
            </p:nvSpPr>
            <p:spPr>
              <a:xfrm>
                <a:off x="731520" y="5952744"/>
                <a:ext cx="3474720" cy="713232"/>
              </a:xfrm>
              <a:prstGeom prst="roundRect">
                <a:avLst>
                  <a:gd name="adj" fmla="val 8000"/>
                </a:avLst>
              </a:prstGeom>
              <a:solidFill>
                <a:srgbClr val="F4F6F9"/>
              </a:solidFill>
              <a:ln w="19050">
                <a:solidFill>
                  <a:srgbClr val="018D3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822960" y="5989320"/>
                <a:ext cx="3337560" cy="164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00" b="1" i="0">
                    <a:solidFill>
                      <a:srgbClr val="018D38"/>
                    </a:solidFill>
                    <a:latin typeface="Calibri"/>
                  </a:rPr>
                  <a:t>especie.html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822960" y="6135624"/>
                <a:ext cx="3337560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>
                    <a:solidFill>
                      <a:srgbClr val="1A2E1A"/>
                    </a:solidFill>
                    <a:latin typeface="Calibri"/>
                  </a:rPr>
                  <a:t>Ficha de especie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822960" y="6327648"/>
                <a:ext cx="3337560" cy="237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750" b="0" i="0">
                    <a:solidFill>
                      <a:srgbClr val="6B7A8D"/>
                    </a:solidFill>
                    <a:latin typeface="Calibri"/>
                  </a:rPr>
                  <a:t>Galería · IUCN · Distribución · Descripción</a:t>
                </a:r>
              </a:p>
            </p:txBody>
          </p:sp>
        </p:grpSp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AB1E762E-8334-5F7C-7089-146663EBE275}"/>
              </a:ext>
            </a:extLst>
          </p:cNvPr>
          <p:cNvGrpSpPr/>
          <p:nvPr/>
        </p:nvGrpSpPr>
        <p:grpSpPr>
          <a:xfrm>
            <a:off x="6974901" y="2817369"/>
            <a:ext cx="3527798" cy="2843784"/>
            <a:chOff x="5074920" y="2286000"/>
            <a:chExt cx="3931920" cy="2843784"/>
          </a:xfrm>
        </p:grpSpPr>
        <p:sp>
          <p:nvSpPr>
            <p:cNvPr id="44" name="Rounded Rectangle 43"/>
            <p:cNvSpPr/>
            <p:nvPr/>
          </p:nvSpPr>
          <p:spPr>
            <a:xfrm>
              <a:off x="5074920" y="2286000"/>
              <a:ext cx="3931920" cy="502920"/>
            </a:xfrm>
            <a:prstGeom prst="roundRect">
              <a:avLst>
                <a:gd name="adj" fmla="val 8000"/>
              </a:avLst>
            </a:prstGeom>
            <a:solidFill>
              <a:srgbClr val="1A3A6B"/>
            </a:solidFill>
            <a:ln w="1270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166359" y="2322576"/>
              <a:ext cx="3749039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FFFFFF"/>
                  </a:solidFill>
                  <a:latin typeface="Calibri"/>
                </a:rPr>
                <a:t>💧  AGUA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5074920" y="2880360"/>
              <a:ext cx="3931920" cy="713232"/>
            </a:xfrm>
            <a:prstGeom prst="roundRect">
              <a:avLst>
                <a:gd name="adj" fmla="val 8000"/>
              </a:avLst>
            </a:prstGeom>
            <a:solidFill>
              <a:srgbClr val="F4F6F9"/>
            </a:solidFill>
            <a:ln w="19050">
              <a:solidFill>
                <a:srgbClr val="3561A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166359" y="2916936"/>
              <a:ext cx="3794759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00" b="1" i="0">
                  <a:solidFill>
                    <a:srgbClr val="3561AB"/>
                  </a:solidFill>
                  <a:latin typeface="Calibri"/>
                </a:rPr>
                <a:t>agua/index.html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166359" y="3063240"/>
              <a:ext cx="3794759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1A2E1A"/>
                  </a:solidFill>
                  <a:latin typeface="Calibri"/>
                </a:rPr>
                <a:t>Inicio módulo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166359" y="3255264"/>
              <a:ext cx="3794759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>
                  <a:solidFill>
                    <a:srgbClr val="6B7A8D"/>
                  </a:solidFill>
                  <a:latin typeface="Calibri"/>
                </a:rPr>
                <a:t>Stats hídricos · 2 modos: Fuentes o Cuencas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5303520" y="3648456"/>
              <a:ext cx="3703320" cy="713232"/>
            </a:xfrm>
            <a:prstGeom prst="roundRect">
              <a:avLst>
                <a:gd name="adj" fmla="val 8000"/>
              </a:avLst>
            </a:prstGeom>
            <a:solidFill>
              <a:srgbClr val="F4F6F9"/>
            </a:solidFill>
            <a:ln w="19050">
              <a:solidFill>
                <a:srgbClr val="3561A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394959" y="3685031"/>
              <a:ext cx="3566160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00" b="1" i="0">
                  <a:solidFill>
                    <a:srgbClr val="3561AB"/>
                  </a:solidFill>
                  <a:latin typeface="Calibri"/>
                </a:rPr>
                <a:t>agua/mapa.html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394958" y="3831335"/>
              <a:ext cx="35661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 dirty="0" err="1">
                  <a:solidFill>
                    <a:srgbClr val="1A2E1A"/>
                  </a:solidFill>
                  <a:latin typeface="Calibri"/>
                </a:rPr>
                <a:t>Mapa</a:t>
              </a:r>
              <a:r>
                <a:rPr sz="900" b="1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900" b="1" i="0" dirty="0" err="1">
                  <a:solidFill>
                    <a:srgbClr val="1A2E1A"/>
                  </a:solidFill>
                  <a:latin typeface="Calibri"/>
                </a:rPr>
                <a:t>hídrico</a:t>
              </a:r>
              <a:endParaRPr sz="900" b="1" i="0" dirty="0">
                <a:solidFill>
                  <a:srgbClr val="1A2E1A"/>
                </a:solidFill>
                <a:latin typeface="Calibri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394959" y="4023359"/>
              <a:ext cx="3566160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 dirty="0" err="1">
                  <a:solidFill>
                    <a:srgbClr val="6B7A8D"/>
                  </a:solidFill>
                  <a:latin typeface="Calibri"/>
                </a:rPr>
                <a:t>CartoDB</a:t>
              </a:r>
              <a:r>
                <a:rPr sz="750" b="0" i="0" dirty="0">
                  <a:solidFill>
                    <a:srgbClr val="6B7A8D"/>
                  </a:solidFill>
                  <a:latin typeface="Calibri"/>
                </a:rPr>
                <a:t> Voyager · 9 </a:t>
              </a:r>
              <a:r>
                <a:rPr sz="750" b="0" i="0" dirty="0" err="1">
                  <a:solidFill>
                    <a:srgbClr val="6B7A8D"/>
                  </a:solidFill>
                  <a:latin typeface="Calibri"/>
                </a:rPr>
                <a:t>marcadores</a:t>
              </a:r>
              <a:r>
                <a:rPr sz="750" b="0" i="0" dirty="0">
                  <a:solidFill>
                    <a:srgbClr val="6B7A8D"/>
                  </a:solidFill>
                  <a:latin typeface="Calibri"/>
                </a:rPr>
                <a:t>  [?</a:t>
              </a:r>
              <a:r>
                <a:rPr sz="750" b="0" i="0" dirty="0" err="1">
                  <a:solidFill>
                    <a:srgbClr val="6B7A8D"/>
                  </a:solidFill>
                  <a:latin typeface="Calibri"/>
                </a:rPr>
                <a:t>tipo</a:t>
              </a:r>
              <a:r>
                <a:rPr sz="750" b="0" i="0" dirty="0">
                  <a:solidFill>
                    <a:srgbClr val="6B7A8D"/>
                  </a:solidFill>
                  <a:latin typeface="Calibri"/>
                </a:rPr>
                <a:t>=</a:t>
              </a:r>
              <a:r>
                <a:rPr sz="750" b="0" i="0" dirty="0" err="1">
                  <a:solidFill>
                    <a:srgbClr val="6B7A8D"/>
                  </a:solidFill>
                  <a:latin typeface="Calibri"/>
                </a:rPr>
                <a:t>fuentes|cuencas</a:t>
              </a:r>
              <a:r>
                <a:rPr sz="750" b="0" i="0" dirty="0">
                  <a:solidFill>
                    <a:srgbClr val="6B7A8D"/>
                  </a:solidFill>
                  <a:latin typeface="Calibri"/>
                </a:rPr>
                <a:t>]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5532120" y="4416552"/>
              <a:ext cx="3474720" cy="713232"/>
            </a:xfrm>
            <a:prstGeom prst="roundRect">
              <a:avLst>
                <a:gd name="adj" fmla="val 8000"/>
              </a:avLst>
            </a:prstGeom>
            <a:solidFill>
              <a:srgbClr val="F4F6F9"/>
            </a:solidFill>
            <a:ln w="19050">
              <a:solidFill>
                <a:srgbClr val="3561A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623559" y="4453128"/>
              <a:ext cx="3337560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00" b="1" i="0">
                  <a:solidFill>
                    <a:srgbClr val="3561AB"/>
                  </a:solidFill>
                  <a:latin typeface="Calibri"/>
                </a:rPr>
                <a:t>agua/subregion.html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623559" y="4599432"/>
              <a:ext cx="3337560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>
                  <a:solidFill>
                    <a:srgbClr val="1A2E1A"/>
                  </a:solidFill>
                  <a:latin typeface="Calibri"/>
                </a:rPr>
                <a:t>Detalle subregión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623559" y="4791456"/>
              <a:ext cx="3337560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>
                  <a:solidFill>
                    <a:srgbClr val="6B7A8D"/>
                  </a:solidFill>
                  <a:latin typeface="Calibri"/>
                </a:rPr>
                <a:t>Mini mapa · Ríos o cuencas · Barra de caudal</a:t>
              </a:r>
            </a:p>
          </p:txBody>
        </p:sp>
      </p:grpSp>
      <p:grpSp>
        <p:nvGrpSpPr>
          <p:cNvPr id="89" name="Grupo 88">
            <a:extLst>
              <a:ext uri="{FF2B5EF4-FFF2-40B4-BE49-F238E27FC236}">
                <a16:creationId xmlns:a16="http://schemas.microsoft.com/office/drawing/2014/main" id="{00F74FD9-889F-3A92-3A92-914218E60D58}"/>
              </a:ext>
            </a:extLst>
          </p:cNvPr>
          <p:cNvGrpSpPr/>
          <p:nvPr/>
        </p:nvGrpSpPr>
        <p:grpSpPr>
          <a:xfrm>
            <a:off x="10869839" y="2496988"/>
            <a:ext cx="3519057" cy="2396069"/>
            <a:chOff x="9875520" y="1965619"/>
            <a:chExt cx="4480560" cy="2396069"/>
          </a:xfrm>
        </p:grpSpPr>
        <p:cxnSp>
          <p:nvCxnSpPr>
            <p:cNvPr id="16" name="Connector 15"/>
            <p:cNvCxnSpPr>
              <a:cxnSpLocks/>
            </p:cNvCxnSpPr>
            <p:nvPr/>
          </p:nvCxnSpPr>
          <p:spPr>
            <a:xfrm>
              <a:off x="12527280" y="1965619"/>
              <a:ext cx="0" cy="320381"/>
            </a:xfrm>
            <a:prstGeom prst="line">
              <a:avLst/>
            </a:prstGeom>
            <a:ln w="19050">
              <a:solidFill>
                <a:srgbClr val="6B7A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ounded Rectangle 60"/>
            <p:cNvSpPr/>
            <p:nvPr/>
          </p:nvSpPr>
          <p:spPr>
            <a:xfrm>
              <a:off x="9875520" y="2286000"/>
              <a:ext cx="4480560" cy="502920"/>
            </a:xfrm>
            <a:prstGeom prst="roundRect">
              <a:avLst>
                <a:gd name="adj" fmla="val 8000"/>
              </a:avLst>
            </a:prstGeom>
            <a:solidFill>
              <a:srgbClr val="8E5F00"/>
            </a:solidFill>
            <a:ln w="1270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9966960" y="2322576"/>
              <a:ext cx="429768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FFFFFF"/>
                  </a:solidFill>
                  <a:latin typeface="Calibri"/>
                </a:rPr>
                <a:t>🎓  COMUNIDAD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9875520" y="2880360"/>
              <a:ext cx="4480560" cy="713232"/>
            </a:xfrm>
            <a:prstGeom prst="roundRect">
              <a:avLst>
                <a:gd name="adj" fmla="val 8000"/>
              </a:avLst>
            </a:prstGeom>
            <a:solidFill>
              <a:srgbClr val="F4F6F9"/>
            </a:solidFill>
            <a:ln w="19050">
              <a:solidFill>
                <a:srgbClr val="F28E1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9966960" y="2916936"/>
              <a:ext cx="4343400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00" b="1" i="0">
                  <a:solidFill>
                    <a:srgbClr val="F28E18"/>
                  </a:solidFill>
                  <a:latin typeface="Calibri"/>
                </a:rPr>
                <a:t>comunidad/jovenes_pa_lante/index.html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966960" y="3063240"/>
              <a:ext cx="4343400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 dirty="0" err="1">
                  <a:solidFill>
                    <a:srgbClr val="1A2E1A"/>
                  </a:solidFill>
                  <a:latin typeface="Calibri"/>
                </a:rPr>
                <a:t>Inicio</a:t>
              </a:r>
              <a:r>
                <a:rPr sz="900" b="1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900" b="1" i="0" dirty="0" err="1">
                  <a:solidFill>
                    <a:srgbClr val="1A2E1A"/>
                  </a:solidFill>
                  <a:latin typeface="Calibri"/>
                </a:rPr>
                <a:t>módulo</a:t>
              </a:r>
              <a:endParaRPr sz="900" b="1" i="0" dirty="0">
                <a:solidFill>
                  <a:srgbClr val="1A2E1A"/>
                </a:solidFill>
                <a:latin typeface="Calibri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9966960" y="3255264"/>
              <a:ext cx="4343400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 dirty="0">
                  <a:solidFill>
                    <a:srgbClr val="6B7A8D"/>
                  </a:solidFill>
                  <a:latin typeface="Calibri"/>
                </a:rPr>
                <a:t>Logo · Stats · </a:t>
              </a:r>
              <a:r>
                <a:rPr sz="750" b="0" i="0" dirty="0" err="1">
                  <a:solidFill>
                    <a:srgbClr val="6B7A8D"/>
                  </a:solidFill>
                  <a:latin typeface="Calibri"/>
                </a:rPr>
                <a:t>Descripción</a:t>
              </a:r>
              <a:r>
                <a:rPr sz="750" b="0" i="0" dirty="0">
                  <a:solidFill>
                    <a:srgbClr val="6B7A8D"/>
                  </a:solidFill>
                  <a:latin typeface="Calibri"/>
                </a:rPr>
                <a:t> · </a:t>
              </a:r>
              <a:r>
                <a:rPr sz="750" b="0" i="0" dirty="0" err="1">
                  <a:solidFill>
                    <a:srgbClr val="6B7A8D"/>
                  </a:solidFill>
                  <a:latin typeface="Calibri"/>
                </a:rPr>
                <a:t>Requisitos</a:t>
              </a:r>
              <a:r>
                <a:rPr sz="750" b="0" i="0" dirty="0">
                  <a:solidFill>
                    <a:srgbClr val="6B7A8D"/>
                  </a:solidFill>
                  <a:latin typeface="Calibri"/>
                </a:rPr>
                <a:t> del </a:t>
              </a:r>
              <a:r>
                <a:rPr sz="750" b="0" i="0" dirty="0" err="1">
                  <a:solidFill>
                    <a:srgbClr val="6B7A8D"/>
                  </a:solidFill>
                  <a:latin typeface="Calibri"/>
                </a:rPr>
                <a:t>programa</a:t>
              </a:r>
              <a:endParaRPr sz="750" b="0" i="0" dirty="0">
                <a:solidFill>
                  <a:srgbClr val="6B7A8D"/>
                </a:solidFill>
                <a:latin typeface="Calibri"/>
              </a:endParaRP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10104120" y="3648456"/>
              <a:ext cx="4251960" cy="713232"/>
            </a:xfrm>
            <a:prstGeom prst="roundRect">
              <a:avLst>
                <a:gd name="adj" fmla="val 8000"/>
              </a:avLst>
            </a:prstGeom>
            <a:solidFill>
              <a:srgbClr val="F4F6F9"/>
            </a:solidFill>
            <a:ln w="19050">
              <a:solidFill>
                <a:srgbClr val="F28E1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195560" y="3685031"/>
              <a:ext cx="4114800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00" b="1" i="0" dirty="0" err="1">
                  <a:solidFill>
                    <a:srgbClr val="F28E18"/>
                  </a:solidFill>
                  <a:latin typeface="Calibri"/>
                </a:rPr>
                <a:t>comunidad</a:t>
              </a:r>
              <a:r>
                <a:rPr sz="700" b="1" i="0" dirty="0">
                  <a:solidFill>
                    <a:srgbClr val="F28E18"/>
                  </a:solidFill>
                  <a:latin typeface="Calibri"/>
                </a:rPr>
                <a:t>/</a:t>
              </a:r>
              <a:r>
                <a:rPr sz="700" b="1" i="0" dirty="0" err="1">
                  <a:solidFill>
                    <a:srgbClr val="F28E18"/>
                  </a:solidFill>
                  <a:latin typeface="Calibri"/>
                </a:rPr>
                <a:t>jovenes_pa_lante</a:t>
              </a:r>
              <a:r>
                <a:rPr sz="700" b="1" i="0" dirty="0">
                  <a:solidFill>
                    <a:srgbClr val="F28E18"/>
                  </a:solidFill>
                  <a:latin typeface="Calibri"/>
                </a:rPr>
                <a:t>/</a:t>
              </a:r>
              <a:r>
                <a:rPr sz="700" b="1" i="0" dirty="0" err="1">
                  <a:solidFill>
                    <a:srgbClr val="F28E18"/>
                  </a:solidFill>
                  <a:latin typeface="Calibri"/>
                </a:rPr>
                <a:t>mapa.html</a:t>
              </a:r>
              <a:endParaRPr sz="700" b="1" i="0" dirty="0">
                <a:solidFill>
                  <a:srgbClr val="F28E18"/>
                </a:solidFill>
                <a:latin typeface="Calibri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0195560" y="3831335"/>
              <a:ext cx="4114800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900" b="1" i="0" dirty="0" err="1">
                  <a:solidFill>
                    <a:srgbClr val="1A2E1A"/>
                  </a:solidFill>
                  <a:latin typeface="Calibri"/>
                </a:rPr>
                <a:t>Mapa</a:t>
              </a:r>
              <a:r>
                <a:rPr sz="900" b="1" i="0" dirty="0">
                  <a:solidFill>
                    <a:srgbClr val="1A2E1A"/>
                  </a:solidFill>
                  <a:latin typeface="Calibri"/>
                </a:rPr>
                <a:t> de </a:t>
              </a:r>
              <a:r>
                <a:rPr sz="900" b="1" i="0" dirty="0" err="1">
                  <a:solidFill>
                    <a:srgbClr val="1A2E1A"/>
                  </a:solidFill>
                  <a:latin typeface="Calibri"/>
                </a:rPr>
                <a:t>municipios</a:t>
              </a:r>
              <a:endParaRPr sz="900" b="1" i="0" dirty="0">
                <a:solidFill>
                  <a:srgbClr val="1A2E1A"/>
                </a:solidFill>
                <a:latin typeface="Calibri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195560" y="4023359"/>
              <a:ext cx="411480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50" b="0" i="0" dirty="0">
                  <a:solidFill>
                    <a:srgbClr val="6B7A8D"/>
                  </a:solidFill>
                  <a:latin typeface="Calibri"/>
                </a:rPr>
                <a:t>90 pins</a:t>
              </a:r>
              <a:r>
                <a:rPr lang="es-ES" sz="750" b="0" i="0" dirty="0">
                  <a:solidFill>
                    <a:srgbClr val="6B7A8D"/>
                  </a:solidFill>
                  <a:latin typeface="Calibri"/>
                </a:rPr>
                <a:t> (municipios de jóvenes inscritos)</a:t>
              </a:r>
              <a:r>
                <a:rPr sz="750" b="0" i="0" dirty="0">
                  <a:solidFill>
                    <a:srgbClr val="6B7A8D"/>
                  </a:solidFill>
                  <a:latin typeface="Calibri"/>
                </a:rPr>
                <a:t> · </a:t>
              </a:r>
              <a:r>
                <a:rPr sz="750" b="0" i="0" dirty="0" err="1">
                  <a:solidFill>
                    <a:srgbClr val="6B7A8D"/>
                  </a:solidFill>
                  <a:latin typeface="Calibri"/>
                </a:rPr>
                <a:t>Filtro</a:t>
              </a:r>
              <a:r>
                <a:rPr sz="750" b="0" i="0" dirty="0">
                  <a:solidFill>
                    <a:srgbClr val="6B7A8D"/>
                  </a:solidFill>
                  <a:latin typeface="Calibri"/>
                </a:rPr>
                <a:t> </a:t>
              </a:r>
              <a:r>
                <a:rPr sz="750" b="0" i="0" dirty="0" err="1">
                  <a:solidFill>
                    <a:srgbClr val="6B7A8D"/>
                  </a:solidFill>
                  <a:latin typeface="Calibri"/>
                </a:rPr>
                <a:t>por</a:t>
              </a:r>
              <a:r>
                <a:rPr sz="750" b="0" i="0" dirty="0">
                  <a:solidFill>
                    <a:srgbClr val="6B7A8D"/>
                  </a:solidFill>
                  <a:latin typeface="Calibri"/>
                </a:rPr>
                <a:t> </a:t>
              </a:r>
              <a:r>
                <a:rPr sz="750" b="0" i="0" dirty="0" err="1">
                  <a:solidFill>
                    <a:srgbClr val="6B7A8D"/>
                  </a:solidFill>
                  <a:latin typeface="Calibri"/>
                </a:rPr>
                <a:t>subregión</a:t>
              </a:r>
              <a:endParaRPr sz="750" b="0" i="0" dirty="0">
                <a:solidFill>
                  <a:srgbClr val="6B7A8D"/>
                </a:solidFill>
                <a:latin typeface="Calibri"/>
              </a:endParaRPr>
            </a:p>
          </p:txBody>
        </p:sp>
      </p:grpSp>
      <p:sp>
        <p:nvSpPr>
          <p:cNvPr id="73" name="Rounded Rectangle 72"/>
          <p:cNvSpPr/>
          <p:nvPr/>
        </p:nvSpPr>
        <p:spPr>
          <a:xfrm>
            <a:off x="274320" y="7635240"/>
            <a:ext cx="140817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57200" y="7662672"/>
            <a:ext cx="1371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  <a:latin typeface="Calibri"/>
              </a:rPr>
              <a:t>🔁  Menú inferior persistente en todas las páginas:  Inicio  ·  Bio  ·  Agua  ·  Comunidad</a:t>
            </a:r>
          </a:p>
        </p:txBody>
      </p:sp>
      <p:grpSp>
        <p:nvGrpSpPr>
          <p:cNvPr id="91" name="Grupo 90">
            <a:extLst>
              <a:ext uri="{FF2B5EF4-FFF2-40B4-BE49-F238E27FC236}">
                <a16:creationId xmlns:a16="http://schemas.microsoft.com/office/drawing/2014/main" id="{5EA049B5-8B61-C9CA-6E71-DEDF96F5C252}"/>
              </a:ext>
            </a:extLst>
          </p:cNvPr>
          <p:cNvGrpSpPr/>
          <p:nvPr/>
        </p:nvGrpSpPr>
        <p:grpSpPr>
          <a:xfrm>
            <a:off x="3893836" y="3530601"/>
            <a:ext cx="2833262" cy="2843784"/>
            <a:chOff x="5074920" y="2286000"/>
            <a:chExt cx="3931920" cy="2843784"/>
          </a:xfrm>
        </p:grpSpPr>
        <p:sp>
          <p:nvSpPr>
            <p:cNvPr id="92" name="Rounded Rectangle 43">
              <a:extLst>
                <a:ext uri="{FF2B5EF4-FFF2-40B4-BE49-F238E27FC236}">
                  <a16:creationId xmlns:a16="http://schemas.microsoft.com/office/drawing/2014/main" id="{07890F3A-FDD3-1127-E361-142CDE73287F}"/>
                </a:ext>
              </a:extLst>
            </p:cNvPr>
            <p:cNvSpPr/>
            <p:nvPr/>
          </p:nvSpPr>
          <p:spPr>
            <a:xfrm>
              <a:off x="5074920" y="2286000"/>
              <a:ext cx="3931920" cy="502920"/>
            </a:xfrm>
            <a:prstGeom prst="roundRect">
              <a:avLst>
                <a:gd name="adj" fmla="val 8000"/>
              </a:avLst>
            </a:prstGeom>
            <a:solidFill>
              <a:schemeClr val="accent2">
                <a:lumMod val="75000"/>
              </a:schemeClr>
            </a:solidFill>
            <a:ln w="1270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TextBox 44">
              <a:extLst>
                <a:ext uri="{FF2B5EF4-FFF2-40B4-BE49-F238E27FC236}">
                  <a16:creationId xmlns:a16="http://schemas.microsoft.com/office/drawing/2014/main" id="{58122741-DB5C-EAAF-503A-D0F5C7981F6B}"/>
                </a:ext>
              </a:extLst>
            </p:cNvPr>
            <p:cNvSpPr txBox="1"/>
            <p:nvPr/>
          </p:nvSpPr>
          <p:spPr>
            <a:xfrm>
              <a:off x="5166359" y="2322576"/>
              <a:ext cx="374903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s-CO" sz="1400" b="0" i="0" u="none" strike="noStrike" dirty="0">
                  <a:solidFill>
                    <a:srgbClr val="000000"/>
                  </a:solidFill>
                  <a:effectLst/>
                </a:rPr>
                <a:t>🎯</a:t>
              </a:r>
              <a:r>
                <a:rPr sz="1300" b="1" i="0" dirty="0">
                  <a:solidFill>
                    <a:srgbClr val="FFFFFF"/>
                  </a:solidFill>
                  <a:latin typeface="Calibri"/>
                </a:rPr>
                <a:t>  </a:t>
              </a:r>
              <a:r>
                <a:rPr lang="es-ES" sz="1300" b="1" i="0" dirty="0">
                  <a:solidFill>
                    <a:srgbClr val="FFFFFF"/>
                  </a:solidFill>
                  <a:latin typeface="Calibri"/>
                </a:rPr>
                <a:t>MESA TÉCNICA</a:t>
              </a:r>
              <a:endParaRPr sz="1300" b="1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4" name="Rounded Rectangle 45">
              <a:extLst>
                <a:ext uri="{FF2B5EF4-FFF2-40B4-BE49-F238E27FC236}">
                  <a16:creationId xmlns:a16="http://schemas.microsoft.com/office/drawing/2014/main" id="{AD25B02E-A65D-BD8E-EFB0-20AED2E866D0}"/>
                </a:ext>
              </a:extLst>
            </p:cNvPr>
            <p:cNvSpPr/>
            <p:nvPr/>
          </p:nvSpPr>
          <p:spPr>
            <a:xfrm>
              <a:off x="5074920" y="2880360"/>
              <a:ext cx="3931920" cy="713232"/>
            </a:xfrm>
            <a:prstGeom prst="roundRect">
              <a:avLst>
                <a:gd name="adj" fmla="val 8000"/>
              </a:avLst>
            </a:prstGeom>
            <a:solidFill>
              <a:srgbClr val="F4F6F9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TextBox 48">
              <a:extLst>
                <a:ext uri="{FF2B5EF4-FFF2-40B4-BE49-F238E27FC236}">
                  <a16:creationId xmlns:a16="http://schemas.microsoft.com/office/drawing/2014/main" id="{EAABE146-409C-12C4-58EB-113709F784B6}"/>
                </a:ext>
              </a:extLst>
            </p:cNvPr>
            <p:cNvSpPr txBox="1"/>
            <p:nvPr/>
          </p:nvSpPr>
          <p:spPr>
            <a:xfrm>
              <a:off x="5166359" y="3063240"/>
              <a:ext cx="37947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s-ES" sz="900" b="1" i="0" dirty="0">
                  <a:solidFill>
                    <a:srgbClr val="1A2E1A"/>
                  </a:solidFill>
                  <a:latin typeface="Calibri"/>
                </a:rPr>
                <a:t>Conformación de Mesa Técnica</a:t>
              </a:r>
              <a:endParaRPr sz="900" b="1" i="0" dirty="0">
                <a:solidFill>
                  <a:srgbClr val="1A2E1A"/>
                </a:solidFill>
                <a:latin typeface="Calibri"/>
              </a:endParaRPr>
            </a:p>
          </p:txBody>
        </p:sp>
        <p:sp>
          <p:nvSpPr>
            <p:cNvPr id="98" name="TextBox 49">
              <a:extLst>
                <a:ext uri="{FF2B5EF4-FFF2-40B4-BE49-F238E27FC236}">
                  <a16:creationId xmlns:a16="http://schemas.microsoft.com/office/drawing/2014/main" id="{F6A49301-F216-7633-FE54-181AFC05121B}"/>
                </a:ext>
              </a:extLst>
            </p:cNvPr>
            <p:cNvSpPr txBox="1"/>
            <p:nvPr/>
          </p:nvSpPr>
          <p:spPr>
            <a:xfrm>
              <a:off x="5166359" y="3255264"/>
              <a:ext cx="37947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s-ES" sz="750" b="0" i="0" dirty="0">
                  <a:solidFill>
                    <a:srgbClr val="6B7A8D"/>
                  </a:solidFill>
                  <a:latin typeface="Calibri"/>
                </a:rPr>
                <a:t>Definición de parámetros para catálogo</a:t>
              </a:r>
              <a:endParaRPr sz="750" b="0" i="0" dirty="0">
                <a:solidFill>
                  <a:srgbClr val="6B7A8D"/>
                </a:solidFill>
                <a:latin typeface="Calibri"/>
              </a:endParaRPr>
            </a:p>
          </p:txBody>
        </p:sp>
        <p:sp>
          <p:nvSpPr>
            <p:cNvPr id="99" name="Rounded Rectangle 50">
              <a:extLst>
                <a:ext uri="{FF2B5EF4-FFF2-40B4-BE49-F238E27FC236}">
                  <a16:creationId xmlns:a16="http://schemas.microsoft.com/office/drawing/2014/main" id="{795E953A-57B1-1EDC-D73D-F571BC7F3FC5}"/>
                </a:ext>
              </a:extLst>
            </p:cNvPr>
            <p:cNvSpPr/>
            <p:nvPr/>
          </p:nvSpPr>
          <p:spPr>
            <a:xfrm>
              <a:off x="5303520" y="3648456"/>
              <a:ext cx="3703320" cy="713232"/>
            </a:xfrm>
            <a:prstGeom prst="roundRect">
              <a:avLst>
                <a:gd name="adj" fmla="val 8000"/>
              </a:avLst>
            </a:prstGeom>
            <a:solidFill>
              <a:srgbClr val="F4F6F9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TextBox 53">
              <a:extLst>
                <a:ext uri="{FF2B5EF4-FFF2-40B4-BE49-F238E27FC236}">
                  <a16:creationId xmlns:a16="http://schemas.microsoft.com/office/drawing/2014/main" id="{CBDCA77E-D356-66C2-6353-DFE7E6E186CA}"/>
                </a:ext>
              </a:extLst>
            </p:cNvPr>
            <p:cNvSpPr txBox="1"/>
            <p:nvPr/>
          </p:nvSpPr>
          <p:spPr>
            <a:xfrm>
              <a:off x="5394960" y="3831335"/>
              <a:ext cx="35661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s-ES" sz="900" b="1" i="0" dirty="0">
                  <a:solidFill>
                    <a:srgbClr val="1A2E1A"/>
                  </a:solidFill>
                  <a:latin typeface="Calibri"/>
                </a:rPr>
                <a:t>Filtrado y Curaduría de registros</a:t>
              </a:r>
              <a:endParaRPr sz="900" b="1" i="0" dirty="0">
                <a:solidFill>
                  <a:srgbClr val="1A2E1A"/>
                </a:solidFill>
                <a:latin typeface="Calibri"/>
              </a:endParaRPr>
            </a:p>
          </p:txBody>
        </p:sp>
        <p:sp>
          <p:nvSpPr>
            <p:cNvPr id="103" name="TextBox 54">
              <a:extLst>
                <a:ext uri="{FF2B5EF4-FFF2-40B4-BE49-F238E27FC236}">
                  <a16:creationId xmlns:a16="http://schemas.microsoft.com/office/drawing/2014/main" id="{2181E57B-91D6-E587-FDA8-FE90B4AF1F54}"/>
                </a:ext>
              </a:extLst>
            </p:cNvPr>
            <p:cNvSpPr txBox="1"/>
            <p:nvPr/>
          </p:nvSpPr>
          <p:spPr>
            <a:xfrm>
              <a:off x="5394960" y="4023359"/>
              <a:ext cx="35661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s-ES" sz="750" b="0" i="0" dirty="0">
                  <a:solidFill>
                    <a:srgbClr val="6B7A8D"/>
                  </a:solidFill>
                  <a:latin typeface="Calibri"/>
                </a:rPr>
                <a:t>15.000 registros fotográficos de Jóvenes </a:t>
              </a:r>
              <a:r>
                <a:rPr lang="es-ES" sz="750" b="0" i="0" dirty="0" err="1">
                  <a:solidFill>
                    <a:srgbClr val="6B7A8D"/>
                  </a:solidFill>
                  <a:latin typeface="Calibri"/>
                </a:rPr>
                <a:t>Pa</a:t>
              </a:r>
              <a:r>
                <a:rPr lang="es-ES" sz="750" b="0" i="0" dirty="0">
                  <a:solidFill>
                    <a:srgbClr val="6B7A8D"/>
                  </a:solidFill>
                  <a:latin typeface="Calibri"/>
                </a:rPr>
                <a:t> </a:t>
              </a:r>
              <a:r>
                <a:rPr lang="es-ES" sz="750" b="0" i="0" dirty="0" err="1">
                  <a:solidFill>
                    <a:srgbClr val="6B7A8D"/>
                  </a:solidFill>
                  <a:latin typeface="Calibri"/>
                </a:rPr>
                <a:t>Lante</a:t>
              </a:r>
              <a:endParaRPr sz="750" b="0" i="0" dirty="0">
                <a:solidFill>
                  <a:srgbClr val="6B7A8D"/>
                </a:solidFill>
                <a:latin typeface="Calibri"/>
              </a:endParaRPr>
            </a:p>
          </p:txBody>
        </p:sp>
        <p:sp>
          <p:nvSpPr>
            <p:cNvPr id="104" name="Rounded Rectangle 55">
              <a:extLst>
                <a:ext uri="{FF2B5EF4-FFF2-40B4-BE49-F238E27FC236}">
                  <a16:creationId xmlns:a16="http://schemas.microsoft.com/office/drawing/2014/main" id="{EDF45019-85B5-39A2-35F9-81D7697BCEB6}"/>
                </a:ext>
              </a:extLst>
            </p:cNvPr>
            <p:cNvSpPr/>
            <p:nvPr/>
          </p:nvSpPr>
          <p:spPr>
            <a:xfrm>
              <a:off x="5532120" y="4416552"/>
              <a:ext cx="3474720" cy="713232"/>
            </a:xfrm>
            <a:prstGeom prst="roundRect">
              <a:avLst>
                <a:gd name="adj" fmla="val 8000"/>
              </a:avLst>
            </a:prstGeom>
            <a:solidFill>
              <a:srgbClr val="F4F6F9"/>
            </a:solidFill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TextBox 58">
              <a:extLst>
                <a:ext uri="{FF2B5EF4-FFF2-40B4-BE49-F238E27FC236}">
                  <a16:creationId xmlns:a16="http://schemas.microsoft.com/office/drawing/2014/main" id="{DA3C8934-A3AD-01A2-ADE2-4A04133CD501}"/>
                </a:ext>
              </a:extLst>
            </p:cNvPr>
            <p:cNvSpPr txBox="1"/>
            <p:nvPr/>
          </p:nvSpPr>
          <p:spPr>
            <a:xfrm>
              <a:off x="5623559" y="4599432"/>
              <a:ext cx="333756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s-ES" sz="900" b="1" i="0" dirty="0">
                  <a:solidFill>
                    <a:srgbClr val="1A2E1A"/>
                  </a:solidFill>
                  <a:latin typeface="Calibri"/>
                </a:rPr>
                <a:t>Plantilla Digital</a:t>
              </a:r>
              <a:endParaRPr sz="900" b="1" i="0" dirty="0">
                <a:solidFill>
                  <a:srgbClr val="1A2E1A"/>
                </a:solidFill>
                <a:latin typeface="Calibri"/>
              </a:endParaRPr>
            </a:p>
          </p:txBody>
        </p:sp>
        <p:sp>
          <p:nvSpPr>
            <p:cNvPr id="108" name="TextBox 59">
              <a:extLst>
                <a:ext uri="{FF2B5EF4-FFF2-40B4-BE49-F238E27FC236}">
                  <a16:creationId xmlns:a16="http://schemas.microsoft.com/office/drawing/2014/main" id="{EAD38CBE-C72D-0EE6-8A26-5A86220F4F77}"/>
                </a:ext>
              </a:extLst>
            </p:cNvPr>
            <p:cNvSpPr txBox="1"/>
            <p:nvPr/>
          </p:nvSpPr>
          <p:spPr>
            <a:xfrm>
              <a:off x="5623559" y="4791456"/>
              <a:ext cx="3337560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s-ES" sz="750" b="0" i="0" dirty="0">
                  <a:solidFill>
                    <a:srgbClr val="6B7A8D"/>
                  </a:solidFill>
                  <a:latin typeface="Calibri"/>
                </a:rPr>
                <a:t>Creación y implementación plantilla para alimentar BD</a:t>
              </a:r>
              <a:endParaRPr sz="750" b="0" i="0" dirty="0">
                <a:solidFill>
                  <a:srgbClr val="6B7A8D"/>
                </a:solidFill>
                <a:latin typeface="Calibri"/>
              </a:endParaRPr>
            </a:p>
          </p:txBody>
        </p:sp>
      </p:grpSp>
      <p:cxnSp>
        <p:nvCxnSpPr>
          <p:cNvPr id="110" name="Connector 13">
            <a:extLst>
              <a:ext uri="{FF2B5EF4-FFF2-40B4-BE49-F238E27FC236}">
                <a16:creationId xmlns:a16="http://schemas.microsoft.com/office/drawing/2014/main" id="{EE83BC45-3698-3861-3FAE-621C02E43C7B}"/>
              </a:ext>
            </a:extLst>
          </p:cNvPr>
          <p:cNvCxnSpPr>
            <a:cxnSpLocks/>
          </p:cNvCxnSpPr>
          <p:nvPr/>
        </p:nvCxnSpPr>
        <p:spPr>
          <a:xfrm>
            <a:off x="5315877" y="3045968"/>
            <a:ext cx="0" cy="470917"/>
          </a:xfrm>
          <a:prstGeom prst="line">
            <a:avLst/>
          </a:prstGeom>
          <a:ln w="19050">
            <a:solidFill>
              <a:srgbClr val="6B7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3">
            <a:extLst>
              <a:ext uri="{FF2B5EF4-FFF2-40B4-BE49-F238E27FC236}">
                <a16:creationId xmlns:a16="http://schemas.microsoft.com/office/drawing/2014/main" id="{3BE886CD-323C-0972-15E3-35C211461375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3603719" y="3045968"/>
            <a:ext cx="1723219" cy="0"/>
          </a:xfrm>
          <a:prstGeom prst="line">
            <a:avLst/>
          </a:prstGeom>
          <a:ln w="19050">
            <a:solidFill>
              <a:srgbClr val="6B7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3">
            <a:extLst>
              <a:ext uri="{FF2B5EF4-FFF2-40B4-BE49-F238E27FC236}">
                <a16:creationId xmlns:a16="http://schemas.microsoft.com/office/drawing/2014/main" id="{2B03E6F4-5CC8-9ABE-701F-6A50D1243F45}"/>
              </a:ext>
            </a:extLst>
          </p:cNvPr>
          <p:cNvCxnSpPr>
            <a:cxnSpLocks/>
          </p:cNvCxnSpPr>
          <p:nvPr/>
        </p:nvCxnSpPr>
        <p:spPr>
          <a:xfrm flipH="1">
            <a:off x="1836525" y="2496988"/>
            <a:ext cx="11116021" cy="0"/>
          </a:xfrm>
          <a:prstGeom prst="line">
            <a:avLst/>
          </a:prstGeom>
          <a:ln w="19050">
            <a:solidFill>
              <a:srgbClr val="6B7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2" name="Grupo 131">
            <a:extLst>
              <a:ext uri="{FF2B5EF4-FFF2-40B4-BE49-F238E27FC236}">
                <a16:creationId xmlns:a16="http://schemas.microsoft.com/office/drawing/2014/main" id="{8D5869A8-A2E2-DD4C-05CE-7154FD7EFF17}"/>
              </a:ext>
            </a:extLst>
          </p:cNvPr>
          <p:cNvGrpSpPr/>
          <p:nvPr/>
        </p:nvGrpSpPr>
        <p:grpSpPr>
          <a:xfrm>
            <a:off x="7794666" y="1843626"/>
            <a:ext cx="1017632" cy="657351"/>
            <a:chOff x="6974901" y="1308268"/>
            <a:chExt cx="1017632" cy="657351"/>
          </a:xfrm>
        </p:grpSpPr>
        <p:cxnSp>
          <p:nvCxnSpPr>
            <p:cNvPr id="125" name="Connector 13">
              <a:extLst>
                <a:ext uri="{FF2B5EF4-FFF2-40B4-BE49-F238E27FC236}">
                  <a16:creationId xmlns:a16="http://schemas.microsoft.com/office/drawing/2014/main" id="{C0CC63CD-A07B-7371-AB7E-C9717ACEDC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4901" y="1308268"/>
              <a:ext cx="1017632" cy="0"/>
            </a:xfrm>
            <a:prstGeom prst="line">
              <a:avLst/>
            </a:prstGeom>
            <a:ln w="19050">
              <a:solidFill>
                <a:srgbClr val="6B7A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 13">
              <a:extLst>
                <a:ext uri="{FF2B5EF4-FFF2-40B4-BE49-F238E27FC236}">
                  <a16:creationId xmlns:a16="http://schemas.microsoft.com/office/drawing/2014/main" id="{A80B7B54-2ECD-C0F1-F341-FF3F8065E656}"/>
                </a:ext>
              </a:extLst>
            </p:cNvPr>
            <p:cNvCxnSpPr>
              <a:cxnSpLocks/>
            </p:cNvCxnSpPr>
            <p:nvPr/>
          </p:nvCxnSpPr>
          <p:spPr>
            <a:xfrm>
              <a:off x="7992533" y="1308268"/>
              <a:ext cx="0" cy="657351"/>
            </a:xfrm>
            <a:prstGeom prst="line">
              <a:avLst/>
            </a:prstGeom>
            <a:ln w="19050">
              <a:solidFill>
                <a:srgbClr val="6B7A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4" name="Conector angular 133">
            <a:extLst>
              <a:ext uri="{FF2B5EF4-FFF2-40B4-BE49-F238E27FC236}">
                <a16:creationId xmlns:a16="http://schemas.microsoft.com/office/drawing/2014/main" id="{046C9D9D-2A67-8730-1AB3-A93C2F11C555}"/>
              </a:ext>
            </a:extLst>
          </p:cNvPr>
          <p:cNvCxnSpPr>
            <a:cxnSpLocks/>
          </p:cNvCxnSpPr>
          <p:nvPr/>
        </p:nvCxnSpPr>
        <p:spPr>
          <a:xfrm>
            <a:off x="3746882" y="1339262"/>
            <a:ext cx="1290743" cy="324948"/>
          </a:xfrm>
          <a:prstGeom prst="bentConnector3">
            <a:avLst/>
          </a:prstGeom>
          <a:ln w="19050">
            <a:solidFill>
              <a:srgbClr val="6B7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20">
            <a:extLst>
              <a:ext uri="{FF2B5EF4-FFF2-40B4-BE49-F238E27FC236}">
                <a16:creationId xmlns:a16="http://schemas.microsoft.com/office/drawing/2014/main" id="{F6823B10-8037-9D82-C35A-A9384EB0F08D}"/>
              </a:ext>
            </a:extLst>
          </p:cNvPr>
          <p:cNvSpPr txBox="1"/>
          <p:nvPr/>
        </p:nvSpPr>
        <p:spPr>
          <a:xfrm>
            <a:off x="4223285" y="5688709"/>
            <a:ext cx="247086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700" b="1" i="0" dirty="0">
                <a:solidFill>
                  <a:srgbClr val="018D38"/>
                </a:solidFill>
                <a:latin typeface="Calibri"/>
              </a:rPr>
              <a:t>plantilla</a:t>
            </a:r>
            <a:r>
              <a:rPr sz="700" b="1" i="0" dirty="0">
                <a:solidFill>
                  <a:srgbClr val="018D38"/>
                </a:solidFill>
                <a:latin typeface="Calibri"/>
              </a:rPr>
              <a:t>.html</a:t>
            </a:r>
          </a:p>
        </p:txBody>
      </p:sp>
      <p:sp>
        <p:nvSpPr>
          <p:cNvPr id="136" name="Rounded Rectangle 67">
            <a:extLst>
              <a:ext uri="{FF2B5EF4-FFF2-40B4-BE49-F238E27FC236}">
                <a16:creationId xmlns:a16="http://schemas.microsoft.com/office/drawing/2014/main" id="{93F0131C-15AA-6AB8-FA76-1EE75820DBCE}"/>
              </a:ext>
            </a:extLst>
          </p:cNvPr>
          <p:cNvSpPr/>
          <p:nvPr/>
        </p:nvSpPr>
        <p:spPr>
          <a:xfrm>
            <a:off x="11049382" y="4953883"/>
            <a:ext cx="3339513" cy="713232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9050">
            <a:solidFill>
              <a:srgbClr val="F28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70">
            <a:extLst>
              <a:ext uri="{FF2B5EF4-FFF2-40B4-BE49-F238E27FC236}">
                <a16:creationId xmlns:a16="http://schemas.microsoft.com/office/drawing/2014/main" id="{15C69241-81FF-572D-2328-2DACF8335AAF}"/>
              </a:ext>
            </a:extLst>
          </p:cNvPr>
          <p:cNvSpPr txBox="1"/>
          <p:nvPr/>
        </p:nvSpPr>
        <p:spPr>
          <a:xfrm>
            <a:off x="11085291" y="5109330"/>
            <a:ext cx="323178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900" b="1" i="0" dirty="0">
                <a:solidFill>
                  <a:srgbClr val="1A2E1A"/>
                </a:solidFill>
                <a:latin typeface="Calibri"/>
              </a:rPr>
              <a:t>Enlace a pagina gobernación jóvenes </a:t>
            </a:r>
            <a:r>
              <a:rPr lang="es-ES" sz="900" b="1" i="0" dirty="0" err="1">
                <a:solidFill>
                  <a:srgbClr val="1A2E1A"/>
                </a:solidFill>
                <a:latin typeface="Calibri"/>
              </a:rPr>
              <a:t>pa</a:t>
            </a:r>
            <a:r>
              <a:rPr lang="es-ES" sz="900" b="1" i="0" dirty="0">
                <a:solidFill>
                  <a:srgbClr val="1A2E1A"/>
                </a:solidFill>
                <a:latin typeface="Calibri"/>
              </a:rPr>
              <a:t> </a:t>
            </a:r>
            <a:r>
              <a:rPr lang="es-ES" sz="900" b="1" i="0" dirty="0" err="1">
                <a:solidFill>
                  <a:srgbClr val="1A2E1A"/>
                </a:solidFill>
                <a:latin typeface="Calibri"/>
              </a:rPr>
              <a:t>lante</a:t>
            </a:r>
            <a:endParaRPr sz="900" b="1" i="0" dirty="0">
              <a:solidFill>
                <a:srgbClr val="1A2E1A"/>
              </a:solidFill>
              <a:latin typeface="Calibri"/>
            </a:endParaRPr>
          </a:p>
        </p:txBody>
      </p:sp>
      <p:sp>
        <p:nvSpPr>
          <p:cNvPr id="138" name="TextBox 69">
            <a:extLst>
              <a:ext uri="{FF2B5EF4-FFF2-40B4-BE49-F238E27FC236}">
                <a16:creationId xmlns:a16="http://schemas.microsoft.com/office/drawing/2014/main" id="{816DAA8B-774E-984F-03AE-5D0F6B3DCF95}"/>
              </a:ext>
            </a:extLst>
          </p:cNvPr>
          <p:cNvSpPr txBox="1"/>
          <p:nvPr/>
        </p:nvSpPr>
        <p:spPr>
          <a:xfrm>
            <a:off x="11103244" y="4966087"/>
            <a:ext cx="323178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dirty="0" err="1">
                <a:solidFill>
                  <a:srgbClr val="F28E18"/>
                </a:solidFill>
                <a:latin typeface="Calibri"/>
              </a:rPr>
              <a:t>comunidad</a:t>
            </a:r>
            <a:r>
              <a:rPr sz="700" b="1" i="0" dirty="0">
                <a:solidFill>
                  <a:srgbClr val="F28E18"/>
                </a:solidFill>
                <a:latin typeface="Calibri"/>
              </a:rPr>
              <a:t>/</a:t>
            </a:r>
            <a:r>
              <a:rPr sz="700" b="1" i="0" dirty="0" err="1">
                <a:solidFill>
                  <a:srgbClr val="F28E18"/>
                </a:solidFill>
                <a:latin typeface="Calibri"/>
              </a:rPr>
              <a:t>jovenes_pa_lante</a:t>
            </a:r>
            <a:r>
              <a:rPr sz="700" b="1" i="0" dirty="0">
                <a:solidFill>
                  <a:srgbClr val="F28E18"/>
                </a:solidFill>
                <a:latin typeface="Calibri"/>
              </a:rPr>
              <a:t>/</a:t>
            </a:r>
            <a:r>
              <a:rPr lang="es-ES" sz="700" b="1" i="0" dirty="0">
                <a:solidFill>
                  <a:srgbClr val="F28E18"/>
                </a:solidFill>
                <a:latin typeface="Calibri"/>
              </a:rPr>
              <a:t>links</a:t>
            </a:r>
            <a:r>
              <a:rPr sz="700" b="1" i="0" dirty="0">
                <a:solidFill>
                  <a:srgbClr val="F28E18"/>
                </a:solidFill>
                <a:latin typeface="Calibri"/>
              </a:rPr>
              <a:t>.html</a:t>
            </a:r>
          </a:p>
        </p:txBody>
      </p:sp>
      <p:sp>
        <p:nvSpPr>
          <p:cNvPr id="139" name="TextBox 71">
            <a:extLst>
              <a:ext uri="{FF2B5EF4-FFF2-40B4-BE49-F238E27FC236}">
                <a16:creationId xmlns:a16="http://schemas.microsoft.com/office/drawing/2014/main" id="{971448E2-8C18-30BF-C6F6-892956EF8D9C}"/>
              </a:ext>
            </a:extLst>
          </p:cNvPr>
          <p:cNvSpPr txBox="1"/>
          <p:nvPr/>
        </p:nvSpPr>
        <p:spPr>
          <a:xfrm>
            <a:off x="11103244" y="5321711"/>
            <a:ext cx="3231787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750" b="0" i="0" dirty="0">
                <a:solidFill>
                  <a:srgbClr val="6B7A8D"/>
                </a:solidFill>
                <a:latin typeface="Calibri"/>
              </a:rPr>
              <a:t>Enlace a páginas de los proyectos de jóvenes </a:t>
            </a:r>
            <a:r>
              <a:rPr lang="es-ES" sz="750" b="0" i="0" dirty="0" err="1">
                <a:solidFill>
                  <a:srgbClr val="6B7A8D"/>
                </a:solidFill>
                <a:latin typeface="Calibri"/>
              </a:rPr>
              <a:t>pa</a:t>
            </a:r>
            <a:r>
              <a:rPr lang="es-ES" sz="750" b="0" i="0" dirty="0">
                <a:solidFill>
                  <a:srgbClr val="6B7A8D"/>
                </a:solidFill>
                <a:latin typeface="Calibri"/>
              </a:rPr>
              <a:t> </a:t>
            </a:r>
            <a:r>
              <a:rPr lang="es-ES" sz="750" b="0" i="0" dirty="0" err="1">
                <a:solidFill>
                  <a:srgbClr val="6B7A8D"/>
                </a:solidFill>
                <a:latin typeface="Calibri"/>
              </a:rPr>
              <a:t>lante</a:t>
            </a:r>
            <a:endParaRPr sz="750" b="0" i="0" dirty="0">
              <a:solidFill>
                <a:srgbClr val="6B7A8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621792"/>
          </a:xfrm>
          <a:prstGeom prst="rect">
            <a:avLst/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371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FFFFFF"/>
                </a:solidFill>
                <a:latin typeface="Calibri"/>
              </a:rPr>
              <a:t>Entregables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Calibri"/>
              </a:rPr>
              <a:t>Comprometidos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 con la </a:t>
            </a:r>
            <a:r>
              <a:rPr b="1" i="0" dirty="0" err="1">
                <a:solidFill>
                  <a:srgbClr val="FFFFFF"/>
                </a:solidFill>
                <a:latin typeface="Calibri"/>
              </a:rPr>
              <a:t>Gobernación</a:t>
            </a:r>
            <a:endParaRPr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819656"/>
            <a:ext cx="13898880" cy="73152"/>
          </a:xfrm>
          <a:prstGeom prst="rect">
            <a:avLst/>
          </a:prstGeom>
          <a:solidFill>
            <a:srgbClr val="DDE3E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99032" y="1691640"/>
            <a:ext cx="402336" cy="329184"/>
          </a:xfrm>
          <a:prstGeom prst="roundRect">
            <a:avLst>
              <a:gd name="adj" fmla="val 8000"/>
            </a:avLst>
          </a:prstGeom>
          <a:solidFill>
            <a:srgbClr val="018D3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99032" y="169164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6532" y="1691640"/>
            <a:ext cx="402336" cy="329184"/>
          </a:xfrm>
          <a:prstGeom prst="roundRect">
            <a:avLst>
              <a:gd name="adj" fmla="val 8000"/>
            </a:avLst>
          </a:prstGeom>
          <a:solidFill>
            <a:srgbClr val="0B56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6532" y="169164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12864" y="1704415"/>
            <a:ext cx="402336" cy="329184"/>
          </a:xfrm>
          <a:prstGeom prst="roundRect">
            <a:avLst>
              <a:gd name="adj" fmla="val 8000"/>
            </a:avLst>
          </a:prstGeom>
          <a:solidFill>
            <a:srgbClr val="006D7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12864" y="1704415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51007" y="1704415"/>
            <a:ext cx="402336" cy="329184"/>
          </a:xfrm>
          <a:prstGeom prst="roundRect">
            <a:avLst>
              <a:gd name="adj" fmla="val 8000"/>
            </a:avLst>
          </a:prstGeom>
          <a:solidFill>
            <a:srgbClr val="F28E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51007" y="1704415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063472" y="1691640"/>
            <a:ext cx="402336" cy="329184"/>
          </a:xfrm>
          <a:prstGeom prst="roundRect">
            <a:avLst>
              <a:gd name="adj" fmla="val 8000"/>
            </a:avLst>
          </a:prstGeom>
          <a:solidFill>
            <a:srgbClr val="8E5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063470" y="169164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grpSp>
        <p:nvGrpSpPr>
          <p:cNvPr id="61" name="Grupo 60">
            <a:extLst>
              <a:ext uri="{FF2B5EF4-FFF2-40B4-BE49-F238E27FC236}">
                <a16:creationId xmlns:a16="http://schemas.microsoft.com/office/drawing/2014/main" id="{91412069-05E1-B712-0AAA-BA07475BB673}"/>
              </a:ext>
            </a:extLst>
          </p:cNvPr>
          <p:cNvGrpSpPr/>
          <p:nvPr/>
        </p:nvGrpSpPr>
        <p:grpSpPr>
          <a:xfrm>
            <a:off x="274320" y="2665921"/>
            <a:ext cx="2706624" cy="2687216"/>
            <a:chOff x="256032" y="2103120"/>
            <a:chExt cx="2706624" cy="2687216"/>
          </a:xfrm>
        </p:grpSpPr>
        <p:sp>
          <p:nvSpPr>
            <p:cNvPr id="21" name="Rounded Rectangle 20"/>
            <p:cNvSpPr/>
            <p:nvPr/>
          </p:nvSpPr>
          <p:spPr>
            <a:xfrm>
              <a:off x="256032" y="2103120"/>
              <a:ext cx="2706624" cy="2687216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018D3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56032" y="2103120"/>
              <a:ext cx="2706624" cy="960120"/>
            </a:xfrm>
            <a:prstGeom prst="roundRect">
              <a:avLst>
                <a:gd name="adj" fmla="val 12000"/>
              </a:avLst>
            </a:prstGeom>
            <a:solidFill>
              <a:srgbClr val="018D38"/>
            </a:solidFill>
            <a:ln w="1270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7472" y="2167127"/>
              <a:ext cx="2542032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1" i="0">
                  <a:solidFill>
                    <a:srgbClr val="FFFFFF"/>
                  </a:solidFill>
                  <a:latin typeface="Calibri"/>
                </a:rPr>
                <a:t>ENTREGABLE 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7472" y="2414015"/>
              <a:ext cx="2542032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FFFFFF"/>
                  </a:solidFill>
                  <a:latin typeface="Calibri"/>
                </a:rPr>
                <a:t>Mes 3  🌿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47472" y="2670048"/>
              <a:ext cx="254203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 dirty="0" err="1">
                  <a:solidFill>
                    <a:srgbClr val="FFFFFF"/>
                  </a:solidFill>
                  <a:latin typeface="Calibri"/>
                </a:rPr>
                <a:t>Módulo</a:t>
              </a:r>
              <a:r>
                <a:rPr sz="1050" b="0" i="0" dirty="0">
                  <a:solidFill>
                    <a:srgbClr val="FFFFFF"/>
                  </a:solidFill>
                  <a:latin typeface="Calibri"/>
                </a:rPr>
                <a:t> </a:t>
              </a:r>
              <a:r>
                <a:rPr sz="1050" b="0" i="0" dirty="0" err="1">
                  <a:solidFill>
                    <a:srgbClr val="FFFFFF"/>
                  </a:solidFill>
                  <a:latin typeface="Calibri"/>
                </a:rPr>
                <a:t>Biodiversidad</a:t>
              </a:r>
              <a:r>
                <a:rPr lang="es-CO" sz="1050" b="0" i="0" dirty="0">
                  <a:solidFill>
                    <a:srgbClr val="FFFFFF"/>
                  </a:solidFill>
                  <a:latin typeface="Calibri"/>
                </a:rPr>
                <a:t>
</a:t>
              </a:r>
              <a:r>
                <a:rPr sz="1050" b="0" i="0" dirty="0">
                  <a:solidFill>
                    <a:srgbClr val="FFFFFF"/>
                  </a:solidFill>
                  <a:latin typeface="Calibri"/>
                </a:rPr>
                <a:t>al 50%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65760" y="3145535"/>
              <a:ext cx="2505456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75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especies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cargadas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con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fotos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y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fichas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completas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
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Mapa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SVG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interactivo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con las 9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subregiones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
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Galería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por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especie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·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Filtros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·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Búsqueda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
Sistema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bilingüe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ES/EN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operativo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
Demo presentable al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Gobernador</a:t>
              </a:r>
              <a:endParaRPr sz="1000" b="0" i="0" dirty="0">
                <a:solidFill>
                  <a:srgbClr val="1A2E1A"/>
                </a:solidFill>
                <a:latin typeface="Calibri"/>
              </a:endParaRPr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256032" y="7269479"/>
            <a:ext cx="2706624" cy="640080"/>
          </a:xfrm>
          <a:prstGeom prst="roundRect">
            <a:avLst>
              <a:gd name="adj" fmla="val 6000"/>
            </a:avLst>
          </a:prstGeom>
          <a:solidFill>
            <a:srgbClr val="F0F4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7306055"/>
            <a:ext cx="2542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B7A8D"/>
                </a:solidFill>
                <a:latin typeface="Calibri"/>
              </a:rPr>
              <a:t>📋 Presentación ante la Gobernación de Antioquia</a:t>
            </a: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D87E9E0-7B45-B2B6-4848-1120447A0EF6}"/>
              </a:ext>
            </a:extLst>
          </p:cNvPr>
          <p:cNvGrpSpPr/>
          <p:nvPr/>
        </p:nvGrpSpPr>
        <p:grpSpPr>
          <a:xfrm>
            <a:off x="3099816" y="2601913"/>
            <a:ext cx="2706624" cy="2751224"/>
            <a:chOff x="3099816" y="2601913"/>
            <a:chExt cx="2706624" cy="2751224"/>
          </a:xfrm>
        </p:grpSpPr>
        <p:sp>
          <p:nvSpPr>
            <p:cNvPr id="11" name="TextBox 10"/>
            <p:cNvSpPr txBox="1"/>
            <p:nvPr/>
          </p:nvSpPr>
          <p:spPr>
            <a:xfrm>
              <a:off x="3401568" y="2601913"/>
              <a:ext cx="914400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i="0">
                  <a:solidFill>
                    <a:srgbClr val="0B5640"/>
                  </a:solidFill>
                  <a:latin typeface="Calibri"/>
                </a:rPr>
                <a:t>Mes 6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099816" y="2665921"/>
              <a:ext cx="2706624" cy="2687216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0B56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099816" y="2665921"/>
              <a:ext cx="2706624" cy="960120"/>
            </a:xfrm>
            <a:prstGeom prst="roundRect">
              <a:avLst>
                <a:gd name="adj" fmla="val 12000"/>
              </a:avLst>
            </a:prstGeom>
            <a:solidFill>
              <a:srgbClr val="0B5640"/>
            </a:solidFill>
            <a:ln w="1270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191256" y="2729928"/>
              <a:ext cx="2542032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1" i="0">
                  <a:solidFill>
                    <a:srgbClr val="FFFFCC"/>
                  </a:solidFill>
                  <a:latin typeface="Calibri"/>
                </a:rPr>
                <a:t>ENTREGABLE 2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191256" y="2976816"/>
              <a:ext cx="2542032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FFFFFF"/>
                  </a:solidFill>
                  <a:latin typeface="Calibri"/>
                </a:rPr>
                <a:t>Mes 6  ✅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191256" y="3232849"/>
              <a:ext cx="254203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 dirty="0" err="1">
                  <a:solidFill>
                    <a:srgbClr val="FFFFDD"/>
                  </a:solidFill>
                  <a:latin typeface="Calibri"/>
                </a:rPr>
                <a:t>Módulo</a:t>
              </a:r>
              <a:r>
                <a:rPr sz="1050" b="0" i="0" dirty="0">
                  <a:solidFill>
                    <a:srgbClr val="FFFFDD"/>
                  </a:solidFill>
                  <a:latin typeface="Calibri"/>
                </a:rPr>
                <a:t> </a:t>
              </a:r>
              <a:r>
                <a:rPr sz="1050" b="0" i="0" dirty="0" err="1">
                  <a:solidFill>
                    <a:srgbClr val="FFFFDD"/>
                  </a:solidFill>
                  <a:latin typeface="Calibri"/>
                </a:rPr>
                <a:t>Biodiversidad</a:t>
              </a:r>
              <a:r>
                <a:rPr sz="1050" b="0" i="0" dirty="0">
                  <a:solidFill>
                    <a:srgbClr val="FFFFDD"/>
                  </a:solidFill>
                  <a:latin typeface="Calibri"/>
                </a:rPr>
                <a:t>
</a:t>
              </a:r>
              <a:r>
                <a:rPr sz="1050" b="0" i="0" dirty="0" err="1">
                  <a:solidFill>
                    <a:srgbClr val="FFFFDD"/>
                  </a:solidFill>
                  <a:latin typeface="Calibri"/>
                </a:rPr>
                <a:t>completo</a:t>
              </a:r>
              <a:endParaRPr sz="1050" b="0" i="0" dirty="0">
                <a:solidFill>
                  <a:srgbClr val="FFFFDD"/>
                </a:solidFill>
                <a:latin typeface="Calibri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209544" y="3708336"/>
              <a:ext cx="2505456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150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especies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con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fotos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profesionales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y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revisión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taxonómica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
6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grupos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: Aves ·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Anfibios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· Mariposas ·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Polillas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·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Orquídeas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·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Mamíferos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
Panel CMS para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actualización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de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contenidos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
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Optimización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de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rendimiento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y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caché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
QA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completo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del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módulo</a:t>
              </a:r>
              <a:endParaRPr sz="1000" b="0" i="0" dirty="0">
                <a:solidFill>
                  <a:srgbClr val="1A2E1A"/>
                </a:solidFill>
                <a:latin typeface="Calibri"/>
              </a:endParaRPr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3081528" y="7269479"/>
            <a:ext cx="2706624" cy="640080"/>
          </a:xfrm>
          <a:prstGeom prst="roundRect">
            <a:avLst>
              <a:gd name="adj" fmla="val 6000"/>
            </a:avLst>
          </a:prstGeom>
          <a:solidFill>
            <a:srgbClr val="F0F4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72968" y="7306055"/>
            <a:ext cx="2542032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 dirty="0">
                <a:solidFill>
                  <a:srgbClr val="6B7A8D"/>
                </a:solidFill>
                <a:latin typeface="Calibri"/>
              </a:rPr>
              <a:t>📋 </a:t>
            </a:r>
            <a:r>
              <a:rPr sz="750" b="1" i="1" dirty="0" err="1">
                <a:solidFill>
                  <a:srgbClr val="6B7A8D"/>
                </a:solidFill>
                <a:latin typeface="Calibri"/>
              </a:rPr>
              <a:t>Módulo</a:t>
            </a:r>
            <a:r>
              <a:rPr sz="750" b="1" i="1" dirty="0">
                <a:solidFill>
                  <a:srgbClr val="6B7A8D"/>
                </a:solidFill>
                <a:latin typeface="Calibri"/>
              </a:rPr>
              <a:t> Bio </a:t>
            </a:r>
            <a:r>
              <a:rPr sz="750" b="1" i="1" dirty="0" err="1">
                <a:solidFill>
                  <a:srgbClr val="6B7A8D"/>
                </a:solidFill>
                <a:latin typeface="Calibri"/>
              </a:rPr>
              <a:t>en</a:t>
            </a:r>
            <a:r>
              <a:rPr sz="750" b="1" i="1" dirty="0">
                <a:solidFill>
                  <a:srgbClr val="6B7A8D"/>
                </a:solidFill>
                <a:latin typeface="Calibri"/>
              </a:rPr>
              <a:t> </a:t>
            </a:r>
            <a:r>
              <a:rPr sz="750" b="1" i="1" dirty="0" err="1">
                <a:solidFill>
                  <a:srgbClr val="6B7A8D"/>
                </a:solidFill>
                <a:latin typeface="Calibri"/>
              </a:rPr>
              <a:t>producción</a:t>
            </a:r>
            <a:r>
              <a:rPr sz="750" b="1" i="1" dirty="0">
                <a:solidFill>
                  <a:srgbClr val="6B7A8D"/>
                </a:solidFill>
                <a:latin typeface="Calibri"/>
              </a:rPr>
              <a:t> </a:t>
            </a:r>
            <a:r>
              <a:rPr lang="es-ES" sz="750" b="1" i="1" dirty="0">
                <a:solidFill>
                  <a:srgbClr val="6B7A8D"/>
                </a:solidFill>
                <a:latin typeface="Calibri"/>
              </a:rPr>
              <a:t>- </a:t>
            </a:r>
            <a:r>
              <a:rPr sz="750" b="1" i="1" dirty="0">
                <a:solidFill>
                  <a:srgbClr val="6B7A8D"/>
                </a:solidFill>
                <a:latin typeface="Calibri"/>
              </a:rPr>
              <a:t> URL </a:t>
            </a:r>
            <a:r>
              <a:rPr sz="750" b="1" i="1" dirty="0" err="1">
                <a:solidFill>
                  <a:srgbClr val="6B7A8D"/>
                </a:solidFill>
                <a:latin typeface="Calibri"/>
              </a:rPr>
              <a:t>pública</a:t>
            </a:r>
            <a:r>
              <a:rPr sz="750" b="1" i="1" dirty="0">
                <a:solidFill>
                  <a:srgbClr val="6B7A8D"/>
                </a:solidFill>
                <a:latin typeface="Calibri"/>
              </a:rPr>
              <a:t> </a:t>
            </a:r>
            <a:r>
              <a:rPr sz="750" b="1" i="1" dirty="0" err="1">
                <a:solidFill>
                  <a:srgbClr val="6B7A8D"/>
                </a:solidFill>
                <a:latin typeface="Calibri"/>
              </a:rPr>
              <a:t>activa</a:t>
            </a:r>
            <a:endParaRPr sz="750" b="1" i="1" dirty="0">
              <a:solidFill>
                <a:srgbClr val="6B7A8D"/>
              </a:solidFill>
              <a:latin typeface="Calibri"/>
            </a:endParaRPr>
          </a:p>
        </p:txBody>
      </p:sp>
      <p:grpSp>
        <p:nvGrpSpPr>
          <p:cNvPr id="63" name="Grupo 62">
            <a:extLst>
              <a:ext uri="{FF2B5EF4-FFF2-40B4-BE49-F238E27FC236}">
                <a16:creationId xmlns:a16="http://schemas.microsoft.com/office/drawing/2014/main" id="{58E277D0-2582-B812-DBF5-B03D68CDA83E}"/>
              </a:ext>
            </a:extLst>
          </p:cNvPr>
          <p:cNvGrpSpPr/>
          <p:nvPr/>
        </p:nvGrpSpPr>
        <p:grpSpPr>
          <a:xfrm>
            <a:off x="5925312" y="2601913"/>
            <a:ext cx="2706624" cy="2751224"/>
            <a:chOff x="5925312" y="2601913"/>
            <a:chExt cx="2706624" cy="2751224"/>
          </a:xfrm>
        </p:grpSpPr>
        <p:sp>
          <p:nvSpPr>
            <p:cNvPr id="14" name="TextBox 13"/>
            <p:cNvSpPr txBox="1"/>
            <p:nvPr/>
          </p:nvSpPr>
          <p:spPr>
            <a:xfrm>
              <a:off x="6876288" y="2601913"/>
              <a:ext cx="914400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i="0">
                  <a:solidFill>
                    <a:srgbClr val="006D77"/>
                  </a:solidFill>
                  <a:latin typeface="Calibri"/>
                </a:rPr>
                <a:t>Mes 9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925312" y="2665921"/>
              <a:ext cx="2706624" cy="2687216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006D7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5925312" y="2665921"/>
              <a:ext cx="2706624" cy="960120"/>
            </a:xfrm>
            <a:prstGeom prst="roundRect">
              <a:avLst>
                <a:gd name="adj" fmla="val 12000"/>
              </a:avLst>
            </a:prstGeom>
            <a:solidFill>
              <a:srgbClr val="006D77"/>
            </a:solidFill>
            <a:ln w="1270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016752" y="2729928"/>
              <a:ext cx="2542032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1" i="0">
                  <a:solidFill>
                    <a:srgbClr val="FFFFCC"/>
                  </a:solidFill>
                  <a:latin typeface="Calibri"/>
                </a:rPr>
                <a:t>ENTREGABLE 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016752" y="2976816"/>
              <a:ext cx="2542032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FFFFFF"/>
                  </a:solidFill>
                  <a:latin typeface="Calibri"/>
                </a:rPr>
                <a:t>Mes 9  💧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16752" y="3232849"/>
              <a:ext cx="2542032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 dirty="0" err="1">
                  <a:solidFill>
                    <a:srgbClr val="FFFFDD"/>
                  </a:solidFill>
                  <a:latin typeface="Calibri"/>
                </a:rPr>
                <a:t>Módulo</a:t>
              </a:r>
              <a:r>
                <a:rPr sz="1050" b="0" i="0" dirty="0">
                  <a:solidFill>
                    <a:srgbClr val="FFFFDD"/>
                  </a:solidFill>
                  <a:latin typeface="Calibri"/>
                </a:rPr>
                <a:t> Agua
</a:t>
              </a:r>
              <a:r>
                <a:rPr sz="1050" b="0" i="0" dirty="0" err="1">
                  <a:solidFill>
                    <a:srgbClr val="FFFFDD"/>
                  </a:solidFill>
                  <a:latin typeface="Calibri"/>
                </a:rPr>
                <a:t>implementado</a:t>
              </a:r>
              <a:endParaRPr sz="1050" b="0" i="0" dirty="0">
                <a:solidFill>
                  <a:srgbClr val="FFFFDD"/>
                </a:solidFill>
                <a:latin typeface="Calibri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035040" y="3708336"/>
              <a:ext cx="2505456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Red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hídrica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de Antioquia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integrada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(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datos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IDEAM/GIS)
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Mapas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Leaflet con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capas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GeoJSON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de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cuencas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y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ríos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
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Fichas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por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subregión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: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fuentes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hídricas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+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cuencas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abastecedoras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
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Validación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con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autoridades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ambientales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
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Módulo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en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producción</a:t>
              </a:r>
              <a:endParaRPr sz="1000" b="0" i="0" dirty="0">
                <a:solidFill>
                  <a:srgbClr val="1A2E1A"/>
                </a:solidFill>
                <a:latin typeface="Calibri"/>
              </a:endParaRP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5907024" y="7269479"/>
            <a:ext cx="2706624" cy="640080"/>
          </a:xfrm>
          <a:prstGeom prst="roundRect">
            <a:avLst>
              <a:gd name="adj" fmla="val 6000"/>
            </a:avLst>
          </a:prstGeom>
          <a:solidFill>
            <a:srgbClr val="F0F4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98464" y="7306055"/>
            <a:ext cx="2542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B7A8D"/>
                </a:solidFill>
                <a:latin typeface="Calibri"/>
              </a:rPr>
              <a:t>📋 Módulo Agua publicado y validado institucionalmente</a:t>
            </a:r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E8F96F78-E321-F46A-448E-8C1982B7C147}"/>
              </a:ext>
            </a:extLst>
          </p:cNvPr>
          <p:cNvGrpSpPr/>
          <p:nvPr/>
        </p:nvGrpSpPr>
        <p:grpSpPr>
          <a:xfrm>
            <a:off x="8750807" y="2601913"/>
            <a:ext cx="2706624" cy="2751224"/>
            <a:chOff x="8750807" y="2601913"/>
            <a:chExt cx="2706624" cy="2751224"/>
          </a:xfrm>
        </p:grpSpPr>
        <p:sp>
          <p:nvSpPr>
            <p:cNvPr id="17" name="TextBox 16"/>
            <p:cNvSpPr txBox="1"/>
            <p:nvPr/>
          </p:nvSpPr>
          <p:spPr>
            <a:xfrm>
              <a:off x="10351007" y="2601913"/>
              <a:ext cx="914400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i="0">
                  <a:solidFill>
                    <a:srgbClr val="F28E18"/>
                  </a:solidFill>
                  <a:latin typeface="Calibri"/>
                </a:rPr>
                <a:t>Mes 15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8750807" y="2665921"/>
              <a:ext cx="2706624" cy="2687216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5400">
              <a:solidFill>
                <a:srgbClr val="F28E1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8750807" y="2665921"/>
              <a:ext cx="2706624" cy="960120"/>
            </a:xfrm>
            <a:prstGeom prst="roundRect">
              <a:avLst>
                <a:gd name="adj" fmla="val 12000"/>
              </a:avLst>
            </a:prstGeom>
            <a:solidFill>
              <a:srgbClr val="F28E18"/>
            </a:solidFill>
            <a:ln w="1270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842247" y="2729928"/>
              <a:ext cx="2542032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00" b="1" i="0">
                  <a:solidFill>
                    <a:srgbClr val="FFFFFF"/>
                  </a:solidFill>
                  <a:latin typeface="Calibri"/>
                </a:rPr>
                <a:t>ENTREGABLE 4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842247" y="2976816"/>
              <a:ext cx="2542032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FFFFFF"/>
                  </a:solidFill>
                  <a:latin typeface="Calibri"/>
                </a:rPr>
                <a:t>Mes 15  🎓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842247" y="3232849"/>
              <a:ext cx="254203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 dirty="0" err="1">
                  <a:solidFill>
                    <a:srgbClr val="FFFFFF"/>
                  </a:solidFill>
                  <a:latin typeface="Calibri"/>
                </a:rPr>
                <a:t>Módulo</a:t>
              </a:r>
              <a:r>
                <a:rPr sz="1050" b="0" i="0" dirty="0">
                  <a:solidFill>
                    <a:srgbClr val="FFFFFF"/>
                  </a:solidFill>
                  <a:latin typeface="Calibri"/>
                </a:rPr>
                <a:t> </a:t>
              </a:r>
              <a:r>
                <a:rPr sz="1050" b="0" i="0" dirty="0" err="1">
                  <a:solidFill>
                    <a:srgbClr val="FFFFFF"/>
                  </a:solidFill>
                  <a:latin typeface="Calibri"/>
                </a:rPr>
                <a:t>Comunidad</a:t>
              </a:r>
              <a:r>
                <a:rPr sz="1050" b="0" i="0" dirty="0">
                  <a:solidFill>
                    <a:srgbClr val="FFFFFF"/>
                  </a:solidFill>
                  <a:latin typeface="Calibri"/>
                </a:rPr>
                <a:t>
</a:t>
              </a:r>
              <a:r>
                <a:rPr sz="1050" b="0" i="0" dirty="0" err="1">
                  <a:solidFill>
                    <a:srgbClr val="FFFFFF"/>
                  </a:solidFill>
                  <a:latin typeface="Calibri"/>
                </a:rPr>
                <a:t>implementado</a:t>
              </a:r>
              <a:endParaRPr sz="1050" b="0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860535" y="3708336"/>
              <a:ext cx="2505456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Becas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Jóvenes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pa'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Lante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integrado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con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datos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reales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
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Mapa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de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municipios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con 125+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beneficiarios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
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Integración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con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sistemas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de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información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Gobernación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
Panel de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gestión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y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actualización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de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beneficiarios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
Testing UAT con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usuarios</a:t>
              </a:r>
              <a:r>
                <a:rPr sz="1000" b="0" i="0" dirty="0">
                  <a:solidFill>
                    <a:srgbClr val="1A2E1A"/>
                  </a:solidFill>
                  <a:latin typeface="Calibri"/>
                </a:rPr>
                <a:t> de la </a:t>
              </a:r>
              <a:r>
                <a:rPr sz="1000" b="0" i="0" dirty="0" err="1">
                  <a:solidFill>
                    <a:srgbClr val="1A2E1A"/>
                  </a:solidFill>
                  <a:latin typeface="Calibri"/>
                </a:rPr>
                <a:t>Gobernación</a:t>
              </a:r>
              <a:endParaRPr sz="1000" b="0" i="0" dirty="0">
                <a:solidFill>
                  <a:srgbClr val="1A2E1A"/>
                </a:solidFill>
                <a:latin typeface="Calibri"/>
              </a:endParaRPr>
            </a:p>
          </p:txBody>
        </p:sp>
      </p:grpSp>
      <p:sp>
        <p:nvSpPr>
          <p:cNvPr id="51" name="Rounded Rectangle 50"/>
          <p:cNvSpPr/>
          <p:nvPr/>
        </p:nvSpPr>
        <p:spPr>
          <a:xfrm>
            <a:off x="8732519" y="7269479"/>
            <a:ext cx="2706624" cy="640080"/>
          </a:xfrm>
          <a:prstGeom prst="roundRect">
            <a:avLst>
              <a:gd name="adj" fmla="val 6000"/>
            </a:avLst>
          </a:prstGeom>
          <a:solidFill>
            <a:srgbClr val="F0F4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823959" y="7306055"/>
            <a:ext cx="254203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 dirty="0">
                <a:solidFill>
                  <a:srgbClr val="6B7A8D"/>
                </a:solidFill>
                <a:latin typeface="Calibri"/>
              </a:rPr>
              <a:t>📋 </a:t>
            </a:r>
            <a:r>
              <a:rPr sz="750" b="1" i="1" dirty="0" err="1">
                <a:solidFill>
                  <a:srgbClr val="6B7A8D"/>
                </a:solidFill>
                <a:latin typeface="Calibri"/>
              </a:rPr>
              <a:t>Módulo</a:t>
            </a:r>
            <a:r>
              <a:rPr sz="750" b="1" i="1" dirty="0">
                <a:solidFill>
                  <a:srgbClr val="6B7A8D"/>
                </a:solidFill>
                <a:latin typeface="Calibri"/>
              </a:rPr>
              <a:t> </a:t>
            </a:r>
            <a:r>
              <a:rPr sz="750" b="1" i="1" dirty="0" err="1">
                <a:solidFill>
                  <a:srgbClr val="6B7A8D"/>
                </a:solidFill>
                <a:latin typeface="Calibri"/>
              </a:rPr>
              <a:t>Comunidad</a:t>
            </a:r>
            <a:r>
              <a:rPr sz="750" b="1" i="1" dirty="0">
                <a:solidFill>
                  <a:srgbClr val="6B7A8D"/>
                </a:solidFill>
                <a:latin typeface="Calibri"/>
              </a:rPr>
              <a:t> </a:t>
            </a:r>
            <a:r>
              <a:rPr sz="750" b="1" i="1" dirty="0" err="1">
                <a:solidFill>
                  <a:srgbClr val="6B7A8D"/>
                </a:solidFill>
                <a:latin typeface="Calibri"/>
              </a:rPr>
              <a:t>en</a:t>
            </a:r>
            <a:r>
              <a:rPr sz="750" b="1" i="1" dirty="0">
                <a:solidFill>
                  <a:srgbClr val="6B7A8D"/>
                </a:solidFill>
                <a:latin typeface="Calibri"/>
              </a:rPr>
              <a:t> </a:t>
            </a:r>
            <a:r>
              <a:rPr sz="750" b="1" i="1" dirty="0" err="1">
                <a:solidFill>
                  <a:srgbClr val="6B7A8D"/>
                </a:solidFill>
                <a:latin typeface="Calibri"/>
              </a:rPr>
              <a:t>producción</a:t>
            </a:r>
            <a:r>
              <a:rPr sz="750" b="1" i="1" dirty="0">
                <a:solidFill>
                  <a:srgbClr val="6B7A8D"/>
                </a:solidFill>
                <a:latin typeface="Calibri"/>
              </a:rPr>
              <a:t> </a:t>
            </a:r>
            <a:r>
              <a:rPr lang="es-ES" sz="750" b="1" i="1" dirty="0">
                <a:solidFill>
                  <a:srgbClr val="6B7A8D"/>
                </a:solidFill>
                <a:latin typeface="Calibri"/>
              </a:rPr>
              <a:t>- </a:t>
            </a:r>
            <a:r>
              <a:rPr sz="750" b="1" i="1" dirty="0">
                <a:solidFill>
                  <a:srgbClr val="6B7A8D"/>
                </a:solidFill>
                <a:latin typeface="Calibri"/>
              </a:rPr>
              <a:t> </a:t>
            </a:r>
            <a:r>
              <a:rPr sz="750" b="1" i="1" dirty="0" err="1">
                <a:solidFill>
                  <a:srgbClr val="6B7A8D"/>
                </a:solidFill>
                <a:latin typeface="Calibri"/>
              </a:rPr>
              <a:t>todos</a:t>
            </a:r>
            <a:r>
              <a:rPr sz="750" b="1" i="1" dirty="0">
                <a:solidFill>
                  <a:srgbClr val="6B7A8D"/>
                </a:solidFill>
                <a:latin typeface="Calibri"/>
              </a:rPr>
              <a:t> </a:t>
            </a:r>
            <a:r>
              <a:rPr sz="750" b="1" i="1" dirty="0" err="1">
                <a:solidFill>
                  <a:srgbClr val="6B7A8D"/>
                </a:solidFill>
                <a:latin typeface="Calibri"/>
              </a:rPr>
              <a:t>los</a:t>
            </a:r>
            <a:r>
              <a:rPr sz="750" b="1" i="1" dirty="0">
                <a:solidFill>
                  <a:srgbClr val="6B7A8D"/>
                </a:solidFill>
                <a:latin typeface="Calibri"/>
              </a:rPr>
              <a:t> </a:t>
            </a:r>
            <a:r>
              <a:rPr sz="750" b="1" i="1" dirty="0" err="1">
                <a:solidFill>
                  <a:srgbClr val="6B7A8D"/>
                </a:solidFill>
                <a:latin typeface="Calibri"/>
              </a:rPr>
              <a:t>módulos</a:t>
            </a:r>
            <a:r>
              <a:rPr sz="750" b="1" i="1" dirty="0">
                <a:solidFill>
                  <a:srgbClr val="6B7A8D"/>
                </a:solidFill>
                <a:latin typeface="Calibri"/>
              </a:rPr>
              <a:t> </a:t>
            </a:r>
            <a:r>
              <a:rPr sz="750" b="1" i="1" dirty="0" err="1">
                <a:solidFill>
                  <a:srgbClr val="6B7A8D"/>
                </a:solidFill>
                <a:latin typeface="Calibri"/>
              </a:rPr>
              <a:t>activos</a:t>
            </a:r>
            <a:endParaRPr sz="750" b="1" i="1" dirty="0">
              <a:solidFill>
                <a:srgbClr val="6B7A8D"/>
              </a:solidFill>
              <a:latin typeface="Calibri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1576303" y="2665921"/>
            <a:ext cx="2706624" cy="2687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8E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1576303" y="2665921"/>
            <a:ext cx="2706624" cy="960120"/>
          </a:xfrm>
          <a:prstGeom prst="roundRect">
            <a:avLst>
              <a:gd name="adj" fmla="val 12000"/>
            </a:avLst>
          </a:prstGeom>
          <a:solidFill>
            <a:srgbClr val="8E5F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667743" y="272992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CC"/>
                </a:solidFill>
                <a:latin typeface="Calibri"/>
              </a:rPr>
              <a:t>ENTREGABLE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67743" y="2976816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Mes 18  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667743" y="3232849"/>
            <a:ext cx="254203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DD"/>
                </a:solidFill>
                <a:latin typeface="Calibri"/>
              </a:rPr>
              <a:t>Lanzamiento oficial
y cierre del proyecto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86031" y="3708336"/>
            <a:ext cx="25054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Auditoría de seguridad completada (OWASP + ley 1581)
Dominio oficial antioquia.gov.co configurado
QR oficial impreso y distribuido
Capacitación al equipo de la Gobernación
Plan de mantenimiento y soporte entregado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558015" y="7269479"/>
            <a:ext cx="2706624" cy="640080"/>
          </a:xfrm>
          <a:prstGeom prst="roundRect">
            <a:avLst>
              <a:gd name="adj" fmla="val 6000"/>
            </a:avLst>
          </a:prstGeom>
          <a:solidFill>
            <a:srgbClr val="F0F4F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1649455" y="7306055"/>
            <a:ext cx="2542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6B7A8D"/>
                </a:solidFill>
                <a:latin typeface="Calibri"/>
              </a:rPr>
              <a:t>📋 Lanzamiento oficial público · Cierre contractual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6" y="0"/>
            <a:ext cx="14626742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3" name="Rectangle 2"/>
          <p:cNvSpPr/>
          <p:nvPr/>
        </p:nvSpPr>
        <p:spPr>
          <a:xfrm>
            <a:off x="1906" y="0"/>
            <a:ext cx="3840480" cy="8229600"/>
          </a:xfrm>
          <a:prstGeom prst="rect">
            <a:avLst/>
          </a:prstGeom>
          <a:solidFill>
            <a:srgbClr val="0B5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4" name="Rectangle 3"/>
          <p:cNvSpPr/>
          <p:nvPr/>
        </p:nvSpPr>
        <p:spPr>
          <a:xfrm>
            <a:off x="3842386" y="0"/>
            <a:ext cx="87782" cy="8229600"/>
          </a:xfrm>
          <a:prstGeom prst="rect">
            <a:avLst/>
          </a:prstGeom>
          <a:solidFill>
            <a:srgbClr val="018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5" name="TextBox 4"/>
          <p:cNvSpPr txBox="1"/>
          <p:nvPr/>
        </p:nvSpPr>
        <p:spPr>
          <a:xfrm>
            <a:off x="221362" y="329184"/>
            <a:ext cx="3291840" cy="1126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60" b="1">
                <a:solidFill>
                  <a:srgbClr val="FFFFFF"/>
                </a:solidFill>
              </a:rPr>
              <a:t>ANTIOQUIA
BIODIVERSA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362" y="1481328"/>
            <a:ext cx="3401568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>
                <a:solidFill>
                  <a:srgbClr val="B8E0C4"/>
                </a:solidFill>
              </a:rPr>
              <a:t>App oficial de la
Gobernación de Antioquia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362" y="2523744"/>
            <a:ext cx="1097280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320">
                <a:solidFill>
                  <a:srgbClr val="444444"/>
                </a:solidFill>
              </a:rPr>
              <a:t>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362" y="3511297"/>
            <a:ext cx="548640" cy="332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>
                <a:solidFill>
                  <a:srgbClr val="FFFFFF"/>
                </a:solidFill>
              </a:rPr>
              <a:t>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138" y="3511296"/>
            <a:ext cx="2962656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dirty="0">
                <a:solidFill>
                  <a:srgbClr val="D4EEDA"/>
                </a:solidFill>
              </a:rPr>
              <a:t>1</a:t>
            </a:r>
            <a:r>
              <a:rPr lang="es-ES" sz="1260" dirty="0">
                <a:solidFill>
                  <a:srgbClr val="D4EEDA"/>
                </a:solidFill>
              </a:rPr>
              <a:t>50</a:t>
            </a:r>
            <a:r>
              <a:rPr sz="1260" dirty="0">
                <a:solidFill>
                  <a:srgbClr val="D4EEDA"/>
                </a:solidFill>
              </a:rPr>
              <a:t> </a:t>
            </a:r>
            <a:r>
              <a:rPr sz="1260" dirty="0" err="1">
                <a:solidFill>
                  <a:srgbClr val="D4EEDA"/>
                </a:solidFill>
              </a:rPr>
              <a:t>especies</a:t>
            </a:r>
            <a:r>
              <a:rPr sz="1260" dirty="0">
                <a:solidFill>
                  <a:srgbClr val="D4EEDA"/>
                </a:solidFill>
              </a:rPr>
              <a:t> con </a:t>
            </a:r>
            <a:r>
              <a:rPr sz="1260" dirty="0" err="1">
                <a:solidFill>
                  <a:srgbClr val="D4EEDA"/>
                </a:solidFill>
              </a:rPr>
              <a:t>fotos</a:t>
            </a:r>
            <a:r>
              <a:rPr sz="1260" dirty="0">
                <a:solidFill>
                  <a:srgbClr val="D4EEDA"/>
                </a:solidFill>
              </a:rPr>
              <a:t> </a:t>
            </a:r>
            <a:r>
              <a:rPr sz="1260" dirty="0" err="1">
                <a:solidFill>
                  <a:srgbClr val="D4EEDA"/>
                </a:solidFill>
              </a:rPr>
              <a:t>reales</a:t>
            </a:r>
            <a:endParaRPr sz="1260" dirty="0">
              <a:solidFill>
                <a:srgbClr val="D4EED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1362" y="3972154"/>
            <a:ext cx="548640" cy="332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>
                <a:solidFill>
                  <a:srgbClr val="FFFFFF"/>
                </a:solidFill>
              </a:rPr>
              <a:t>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138" y="3972154"/>
            <a:ext cx="2962656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>
                <a:solidFill>
                  <a:srgbClr val="D4EEDA"/>
                </a:solidFill>
              </a:rPr>
              <a:t>Red hídrica por subregión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362" y="4433012"/>
            <a:ext cx="548640" cy="332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138" y="4433011"/>
            <a:ext cx="2962656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 dirty="0" err="1">
                <a:solidFill>
                  <a:srgbClr val="D4EEDA"/>
                </a:solidFill>
              </a:rPr>
              <a:t>Becas</a:t>
            </a:r>
            <a:r>
              <a:rPr sz="1260" dirty="0">
                <a:solidFill>
                  <a:srgbClr val="D4EEDA"/>
                </a:solidFill>
              </a:rPr>
              <a:t> </a:t>
            </a:r>
            <a:r>
              <a:rPr sz="1260" dirty="0" err="1">
                <a:solidFill>
                  <a:srgbClr val="D4EEDA"/>
                </a:solidFill>
              </a:rPr>
              <a:t>Jóvenes</a:t>
            </a:r>
            <a:r>
              <a:rPr sz="1260" dirty="0">
                <a:solidFill>
                  <a:srgbClr val="D4EEDA"/>
                </a:solidFill>
              </a:rPr>
              <a:t> pa' </a:t>
            </a:r>
            <a:r>
              <a:rPr sz="1260" dirty="0" err="1">
                <a:solidFill>
                  <a:srgbClr val="D4EEDA"/>
                </a:solidFill>
              </a:rPr>
              <a:t>Lante</a:t>
            </a:r>
            <a:endParaRPr sz="1260" dirty="0">
              <a:solidFill>
                <a:srgbClr val="D4EED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1362" y="4893869"/>
            <a:ext cx="548640" cy="332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138" y="4893869"/>
            <a:ext cx="2962656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>
                <a:solidFill>
                  <a:srgbClr val="D4EEDA"/>
                </a:solidFill>
              </a:rPr>
              <a:t>Español e inglés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362" y="5354727"/>
            <a:ext cx="548640" cy="332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6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138" y="5354727"/>
            <a:ext cx="2962656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60">
                <a:solidFill>
                  <a:srgbClr val="D4EEDA"/>
                </a:solidFill>
              </a:rPr>
              <a:t>Acceso por código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1570" y="274321"/>
            <a:ext cx="100949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B5640"/>
                </a:solidFill>
              </a:rPr>
              <a:t>¿</a:t>
            </a:r>
            <a:r>
              <a:rPr sz="2400" b="1" dirty="0" err="1">
                <a:solidFill>
                  <a:srgbClr val="0B5640"/>
                </a:solidFill>
              </a:rPr>
              <a:t>Qué</a:t>
            </a:r>
            <a:r>
              <a:rPr lang="es-ES" sz="2400" b="1" dirty="0">
                <a:solidFill>
                  <a:srgbClr val="0B5640"/>
                </a:solidFill>
              </a:rPr>
              <a:t> necesitamos de la</a:t>
            </a:r>
            <a:r>
              <a:rPr sz="2400" b="1" dirty="0">
                <a:solidFill>
                  <a:srgbClr val="0B5640"/>
                </a:solidFill>
              </a:rPr>
              <a:t>
</a:t>
            </a:r>
            <a:r>
              <a:rPr sz="2400" b="1" dirty="0" err="1">
                <a:solidFill>
                  <a:srgbClr val="0B5640"/>
                </a:solidFill>
              </a:rPr>
              <a:t>Gobernación</a:t>
            </a:r>
            <a:r>
              <a:rPr sz="2400" b="1" dirty="0">
                <a:solidFill>
                  <a:srgbClr val="0B5640"/>
                </a:solidFill>
              </a:rPr>
              <a:t> para </a:t>
            </a:r>
            <a:r>
              <a:rPr sz="2400" b="1" dirty="0" err="1">
                <a:solidFill>
                  <a:srgbClr val="0B5640"/>
                </a:solidFill>
              </a:rPr>
              <a:t>lanzar</a:t>
            </a:r>
            <a:r>
              <a:rPr sz="2400" b="1" dirty="0">
                <a:solidFill>
                  <a:srgbClr val="0B5640"/>
                </a:solidFill>
              </a:rPr>
              <a:t> la app?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1570" y="1261873"/>
            <a:ext cx="4389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444444"/>
                </a:solidFill>
              </a:rPr>
              <a:t>Para </a:t>
            </a:r>
            <a:r>
              <a:rPr sz="1400" dirty="0" err="1">
                <a:solidFill>
                  <a:srgbClr val="444444"/>
                </a:solidFill>
              </a:rPr>
              <a:t>publicarla</a:t>
            </a:r>
            <a:r>
              <a:rPr sz="1400" dirty="0">
                <a:solidFill>
                  <a:srgbClr val="444444"/>
                </a:solidFill>
              </a:rPr>
              <a:t> </a:t>
            </a:r>
            <a:r>
              <a:rPr sz="1400" dirty="0" err="1">
                <a:solidFill>
                  <a:srgbClr val="444444"/>
                </a:solidFill>
              </a:rPr>
              <a:t>oficialmente</a:t>
            </a:r>
            <a:r>
              <a:rPr sz="1400" dirty="0">
                <a:solidFill>
                  <a:srgbClr val="444444"/>
                </a:solidFill>
              </a:rPr>
              <a:t> </a:t>
            </a:r>
            <a:r>
              <a:rPr sz="1400" dirty="0" err="1">
                <a:solidFill>
                  <a:srgbClr val="444444"/>
                </a:solidFill>
              </a:rPr>
              <a:t>necesitamos</a:t>
            </a:r>
            <a:r>
              <a:rPr sz="1400" dirty="0">
                <a:solidFill>
                  <a:srgbClr val="444444"/>
                </a:solidFill>
              </a:rPr>
              <a:t> que </a:t>
            </a:r>
            <a:r>
              <a:rPr sz="1400" dirty="0" err="1">
                <a:solidFill>
                  <a:srgbClr val="444444"/>
                </a:solidFill>
              </a:rPr>
              <a:t>el</a:t>
            </a:r>
            <a:r>
              <a:rPr sz="1400" dirty="0">
                <a:solidFill>
                  <a:srgbClr val="444444"/>
                </a:solidFill>
              </a:rPr>
              <a:t> </a:t>
            </a:r>
            <a:r>
              <a:rPr sz="1400" dirty="0" err="1">
                <a:solidFill>
                  <a:srgbClr val="444444"/>
                </a:solidFill>
              </a:rPr>
              <a:t>equipo</a:t>
            </a:r>
            <a:r>
              <a:rPr sz="1400" dirty="0">
                <a:solidFill>
                  <a:srgbClr val="444444"/>
                </a:solidFill>
              </a:rPr>
              <a:t>
de </a:t>
            </a:r>
            <a:r>
              <a:rPr sz="1400" dirty="0" err="1">
                <a:solidFill>
                  <a:srgbClr val="444444"/>
                </a:solidFill>
              </a:rPr>
              <a:t>tecnología</a:t>
            </a:r>
            <a:r>
              <a:rPr sz="1400" dirty="0">
                <a:solidFill>
                  <a:srgbClr val="444444"/>
                </a:solidFill>
              </a:rPr>
              <a:t> de la </a:t>
            </a:r>
            <a:r>
              <a:rPr sz="1400" dirty="0" err="1">
                <a:solidFill>
                  <a:srgbClr val="444444"/>
                </a:solidFill>
              </a:rPr>
              <a:t>Gobernación</a:t>
            </a:r>
            <a:r>
              <a:rPr sz="1400" dirty="0">
                <a:solidFill>
                  <a:srgbClr val="444444"/>
                </a:solidFill>
              </a:rPr>
              <a:t> </a:t>
            </a:r>
            <a:r>
              <a:rPr sz="1400" dirty="0" err="1">
                <a:solidFill>
                  <a:srgbClr val="444444"/>
                </a:solidFill>
              </a:rPr>
              <a:t>nos</a:t>
            </a:r>
            <a:r>
              <a:rPr sz="1400" dirty="0">
                <a:solidFill>
                  <a:srgbClr val="444444"/>
                </a:solidFill>
              </a:rPr>
              <a:t> </a:t>
            </a:r>
            <a:r>
              <a:rPr sz="1400" dirty="0" err="1">
                <a:solidFill>
                  <a:srgbClr val="444444"/>
                </a:solidFill>
              </a:rPr>
              <a:t>provea</a:t>
            </a:r>
            <a:r>
              <a:rPr sz="1400" dirty="0">
                <a:solidFill>
                  <a:srgbClr val="444444"/>
                </a:solidFill>
              </a:rPr>
              <a:t> </a:t>
            </a:r>
            <a:r>
              <a:rPr sz="1400" dirty="0" err="1">
                <a:solidFill>
                  <a:srgbClr val="444444"/>
                </a:solidFill>
              </a:rPr>
              <a:t>tres</a:t>
            </a:r>
            <a:r>
              <a:rPr sz="1400" dirty="0">
                <a:solidFill>
                  <a:srgbClr val="444444"/>
                </a:solidFill>
              </a:rPr>
              <a:t> </a:t>
            </a:r>
            <a:r>
              <a:rPr sz="1400" dirty="0" err="1">
                <a:solidFill>
                  <a:srgbClr val="444444"/>
                </a:solidFill>
              </a:rPr>
              <a:t>cosas</a:t>
            </a:r>
            <a:r>
              <a:rPr sz="1400" dirty="0">
                <a:solidFill>
                  <a:srgbClr val="444444"/>
                </a:solidFill>
              </a:rPr>
              <a:t>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6706" y="2084832"/>
            <a:ext cx="3182112" cy="3621024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21" name="Rectangle 20"/>
          <p:cNvSpPr/>
          <p:nvPr/>
        </p:nvSpPr>
        <p:spPr>
          <a:xfrm>
            <a:off x="4116706" y="2084832"/>
            <a:ext cx="3182112" cy="76810"/>
          </a:xfrm>
          <a:prstGeom prst="rect">
            <a:avLst/>
          </a:prstGeom>
          <a:solidFill>
            <a:srgbClr val="018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22" name="TextBox 21"/>
          <p:cNvSpPr txBox="1"/>
          <p:nvPr/>
        </p:nvSpPr>
        <p:spPr>
          <a:xfrm>
            <a:off x="4281298" y="2249424"/>
            <a:ext cx="658368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80">
                <a:solidFill>
                  <a:srgbClr val="444444"/>
                </a:solidFill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1298" y="2852928"/>
            <a:ext cx="2907792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40" b="1">
                <a:solidFill>
                  <a:srgbClr val="0B5640"/>
                </a:solidFill>
              </a:rPr>
              <a:t>Un dominio oficial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1298" y="3423514"/>
            <a:ext cx="2907792" cy="26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i="1">
                <a:solidFill>
                  <a:srgbClr val="018D38"/>
                </a:solidFill>
              </a:rPr>
              <a:t>biodiversa.antioquia.gov.co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1298" y="3895344"/>
            <a:ext cx="272125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444444"/>
                </a:solidFill>
              </a:rPr>
              <a:t>Para que </a:t>
            </a:r>
            <a:r>
              <a:rPr sz="1100" dirty="0" err="1">
                <a:solidFill>
                  <a:srgbClr val="444444"/>
                </a:solidFill>
              </a:rPr>
              <a:t>los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ciudadanos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accedan</a:t>
            </a:r>
            <a:r>
              <a:rPr sz="1100" dirty="0">
                <a:solidFill>
                  <a:srgbClr val="444444"/>
                </a:solidFill>
              </a:rPr>
              <a:t> con </a:t>
            </a:r>
            <a:r>
              <a:rPr sz="1100" dirty="0" err="1">
                <a:solidFill>
                  <a:srgbClr val="444444"/>
                </a:solidFill>
              </a:rPr>
              <a:t>una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dirección</a:t>
            </a:r>
            <a:r>
              <a:rPr lang="es-ES"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oficial</a:t>
            </a:r>
            <a:r>
              <a:rPr sz="1100" dirty="0">
                <a:solidFill>
                  <a:srgbClr val="444444"/>
                </a:solidFill>
              </a:rPr>
              <a:t> del </a:t>
            </a:r>
            <a:r>
              <a:rPr sz="1100" dirty="0" err="1">
                <a:solidFill>
                  <a:srgbClr val="444444"/>
                </a:solidFill>
              </a:rPr>
              <a:t>gobierno</a:t>
            </a:r>
            <a:r>
              <a:rPr sz="1100" dirty="0">
                <a:solidFill>
                  <a:srgbClr val="444444"/>
                </a:solidFill>
              </a:rPr>
              <a:t>, no </a:t>
            </a:r>
            <a:r>
              <a:rPr sz="1100" dirty="0" err="1">
                <a:solidFill>
                  <a:srgbClr val="444444"/>
                </a:solidFill>
              </a:rPr>
              <a:t>una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página</a:t>
            </a:r>
            <a:r>
              <a:rPr sz="1100" dirty="0">
                <a:solidFill>
                  <a:srgbClr val="444444"/>
                </a:solidFill>
              </a:rPr>
              <a:t> externa.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37730" y="2084832"/>
            <a:ext cx="3182112" cy="3621024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27" name="Rectangle 26"/>
          <p:cNvSpPr/>
          <p:nvPr/>
        </p:nvSpPr>
        <p:spPr>
          <a:xfrm>
            <a:off x="7737730" y="2084832"/>
            <a:ext cx="3182112" cy="76810"/>
          </a:xfrm>
          <a:prstGeom prst="rect">
            <a:avLst/>
          </a:prstGeom>
          <a:solidFill>
            <a:srgbClr val="018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28" name="TextBox 27"/>
          <p:cNvSpPr txBox="1"/>
          <p:nvPr/>
        </p:nvSpPr>
        <p:spPr>
          <a:xfrm>
            <a:off x="7902322" y="2249424"/>
            <a:ext cx="658368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80">
                <a:solidFill>
                  <a:srgbClr val="444444"/>
                </a:solidFill>
              </a:rPr>
              <a:t>🖥️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2322" y="2852929"/>
            <a:ext cx="2907792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40" b="1">
                <a:solidFill>
                  <a:srgbClr val="0B5640"/>
                </a:solidFill>
              </a:rPr>
              <a:t>Un servidor donde
alojar la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2322" y="3423513"/>
            <a:ext cx="2907792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i="1" dirty="0">
                <a:solidFill>
                  <a:srgbClr val="018D38"/>
                </a:solidFill>
              </a:rPr>
              <a:t>Espacio </a:t>
            </a:r>
            <a:r>
              <a:rPr sz="1140" i="1" dirty="0" err="1">
                <a:solidFill>
                  <a:srgbClr val="018D38"/>
                </a:solidFill>
              </a:rPr>
              <a:t>en</a:t>
            </a:r>
            <a:r>
              <a:rPr sz="1140" i="1" dirty="0">
                <a:solidFill>
                  <a:srgbClr val="018D38"/>
                </a:solidFill>
              </a:rPr>
              <a:t> </a:t>
            </a:r>
            <a:r>
              <a:rPr sz="1140" i="1" dirty="0" err="1">
                <a:solidFill>
                  <a:srgbClr val="018D38"/>
                </a:solidFill>
              </a:rPr>
              <a:t>los</a:t>
            </a:r>
            <a:r>
              <a:rPr sz="1140" i="1" dirty="0">
                <a:solidFill>
                  <a:srgbClr val="018D38"/>
                </a:solidFill>
              </a:rPr>
              <a:t> </a:t>
            </a:r>
            <a:r>
              <a:rPr sz="1140" i="1" dirty="0" err="1">
                <a:solidFill>
                  <a:srgbClr val="018D38"/>
                </a:solidFill>
              </a:rPr>
              <a:t>servidores</a:t>
            </a:r>
            <a:r>
              <a:rPr sz="1140" i="1" dirty="0">
                <a:solidFill>
                  <a:srgbClr val="018D38"/>
                </a:solidFill>
              </a:rPr>
              <a:t>
de la </a:t>
            </a:r>
            <a:r>
              <a:rPr sz="1140" i="1" dirty="0" err="1">
                <a:solidFill>
                  <a:srgbClr val="018D38"/>
                </a:solidFill>
              </a:rPr>
              <a:t>Gobernación</a:t>
            </a:r>
            <a:endParaRPr sz="1140" i="1" dirty="0">
              <a:solidFill>
                <a:srgbClr val="018D38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902322" y="3895344"/>
            <a:ext cx="29077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444444"/>
                </a:solidFill>
              </a:rPr>
              <a:t>La app </a:t>
            </a:r>
            <a:r>
              <a:rPr sz="1100" dirty="0" err="1">
                <a:solidFill>
                  <a:srgbClr val="444444"/>
                </a:solidFill>
              </a:rPr>
              <a:t>necesita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lang="es-ES" sz="1100" dirty="0">
                <a:solidFill>
                  <a:srgbClr val="444444"/>
                </a:solidFill>
              </a:rPr>
              <a:t>una </a:t>
            </a:r>
            <a:r>
              <a:rPr sz="1100" dirty="0">
                <a:solidFill>
                  <a:srgbClr val="444444"/>
                </a:solidFill>
              </a:rPr>
              <a:t>base de </a:t>
            </a:r>
            <a:r>
              <a:rPr sz="1100" dirty="0" err="1">
                <a:solidFill>
                  <a:srgbClr val="444444"/>
                </a:solidFill>
              </a:rPr>
              <a:t>datos</a:t>
            </a:r>
            <a:r>
              <a:rPr sz="1100" dirty="0">
                <a:solidFill>
                  <a:srgbClr val="444444"/>
                </a:solidFill>
              </a:rPr>
              <a:t>.</a:t>
            </a:r>
            <a:endParaRPr lang="es-ES" sz="1100" dirty="0">
              <a:solidFill>
                <a:srgbClr val="444444"/>
              </a:solidFill>
            </a:endParaRPr>
          </a:p>
          <a:p>
            <a:pPr algn="l"/>
            <a:r>
              <a:rPr lang="es-ES" sz="1100" dirty="0">
                <a:solidFill>
                  <a:srgbClr val="444444"/>
                </a:solidFill>
              </a:rPr>
              <a:t>La mayoría </a:t>
            </a:r>
            <a:r>
              <a:rPr sz="1100" dirty="0">
                <a:solidFill>
                  <a:srgbClr val="444444"/>
                </a:solidFill>
              </a:rPr>
              <a:t>on </a:t>
            </a:r>
            <a:r>
              <a:rPr sz="1100" dirty="0" err="1">
                <a:solidFill>
                  <a:srgbClr val="444444"/>
                </a:solidFill>
              </a:rPr>
              <a:t>archivos</a:t>
            </a:r>
            <a:r>
              <a:rPr sz="1100" dirty="0">
                <a:solidFill>
                  <a:srgbClr val="444444"/>
                </a:solidFill>
              </a:rPr>
              <a:t> </a:t>
            </a:r>
            <a:r>
              <a:rPr sz="1100" dirty="0" err="1">
                <a:solidFill>
                  <a:srgbClr val="444444"/>
                </a:solidFill>
              </a:rPr>
              <a:t>estáticos</a:t>
            </a:r>
            <a:r>
              <a:rPr sz="1100" dirty="0">
                <a:solidFill>
                  <a:srgbClr val="444444"/>
                </a:solidFill>
              </a:rPr>
              <a:t>, </a:t>
            </a:r>
            <a:r>
              <a:rPr sz="1100" dirty="0" err="1">
                <a:solidFill>
                  <a:srgbClr val="444444"/>
                </a:solidFill>
              </a:rPr>
              <a:t>como</a:t>
            </a:r>
            <a:r>
              <a:rPr sz="1100" dirty="0">
                <a:solidFill>
                  <a:srgbClr val="444444"/>
                </a:solidFill>
              </a:rPr>
              <a:t> un sitio web
</a:t>
            </a:r>
            <a:r>
              <a:rPr sz="1100" dirty="0" err="1">
                <a:solidFill>
                  <a:srgbClr val="444444"/>
                </a:solidFill>
              </a:rPr>
              <a:t>sencillo</a:t>
            </a:r>
            <a:r>
              <a:rPr sz="1100" dirty="0">
                <a:solidFill>
                  <a:srgbClr val="444444"/>
                </a:solidFill>
              </a:rPr>
              <a:t>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358754" y="2084832"/>
            <a:ext cx="3182112" cy="3621024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33" name="Rectangle 32"/>
          <p:cNvSpPr/>
          <p:nvPr/>
        </p:nvSpPr>
        <p:spPr>
          <a:xfrm>
            <a:off x="11358754" y="2084832"/>
            <a:ext cx="3182112" cy="76810"/>
          </a:xfrm>
          <a:prstGeom prst="rect">
            <a:avLst/>
          </a:prstGeom>
          <a:solidFill>
            <a:srgbClr val="018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34" name="TextBox 33"/>
          <p:cNvSpPr txBox="1"/>
          <p:nvPr/>
        </p:nvSpPr>
        <p:spPr>
          <a:xfrm>
            <a:off x="11523346" y="2249424"/>
            <a:ext cx="658368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80">
                <a:solidFill>
                  <a:srgbClr val="444444"/>
                </a:solidFill>
              </a:rPr>
              <a:t>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3346" y="2852929"/>
            <a:ext cx="2907792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40" b="1">
                <a:solidFill>
                  <a:srgbClr val="0B5640"/>
                </a:solidFill>
              </a:rPr>
              <a:t>Conexión segura
(certificado HTTPS)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3346" y="3423513"/>
            <a:ext cx="2907792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i="1">
                <a:solidFill>
                  <a:srgbClr val="018D38"/>
                </a:solidFill>
              </a:rPr>
              <a:t>Candado verde en el
navegador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3346" y="3895345"/>
            <a:ext cx="29077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44444"/>
                </a:solidFill>
              </a:rPr>
              <a:t>Obligatorio para sitios .gov.co. Protege a los
ciudadanos y da confianza institucional.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6706" y="5870448"/>
            <a:ext cx="10424160" cy="1152144"/>
          </a:xfrm>
          <a:prstGeom prst="rect">
            <a:avLst/>
          </a:prstGeom>
          <a:solidFill>
            <a:srgbClr val="E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39" name="Rectangle 38"/>
          <p:cNvSpPr/>
          <p:nvPr/>
        </p:nvSpPr>
        <p:spPr>
          <a:xfrm>
            <a:off x="4116705" y="5870448"/>
            <a:ext cx="76810" cy="1152144"/>
          </a:xfrm>
          <a:prstGeom prst="rect">
            <a:avLst/>
          </a:prstGeom>
          <a:solidFill>
            <a:srgbClr val="018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40" name="TextBox 39"/>
          <p:cNvSpPr txBox="1"/>
          <p:nvPr/>
        </p:nvSpPr>
        <p:spPr>
          <a:xfrm>
            <a:off x="4336162" y="6298787"/>
            <a:ext cx="10094976" cy="295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 dirty="0">
                <a:solidFill>
                  <a:srgbClr val="0B5640"/>
                </a:solidFill>
              </a:rPr>
              <a:t>💡  </a:t>
            </a:r>
            <a:r>
              <a:rPr lang="es-ES" sz="1320" b="1" dirty="0">
                <a:solidFill>
                  <a:srgbClr val="0B5640"/>
                </a:solidFill>
              </a:rPr>
              <a:t>N</a:t>
            </a:r>
            <a:r>
              <a:rPr sz="1320" b="1" dirty="0" err="1">
                <a:solidFill>
                  <a:srgbClr val="0B5640"/>
                </a:solidFill>
              </a:rPr>
              <a:t>ecesitamos</a:t>
            </a:r>
            <a:r>
              <a:rPr sz="1320" b="1" dirty="0">
                <a:solidFill>
                  <a:srgbClr val="0B5640"/>
                </a:solidFill>
              </a:rPr>
              <a:t> la </a:t>
            </a:r>
            <a:r>
              <a:rPr sz="1320" b="1" dirty="0" err="1">
                <a:solidFill>
                  <a:srgbClr val="0B5640"/>
                </a:solidFill>
              </a:rPr>
              <a:t>infraestructura</a:t>
            </a:r>
            <a:r>
              <a:rPr sz="1320" b="1" dirty="0">
                <a:solidFill>
                  <a:srgbClr val="0B5640"/>
                </a:solidFill>
              </a:rPr>
              <a:t> </a:t>
            </a:r>
            <a:r>
              <a:rPr sz="1320" b="1" dirty="0" err="1">
                <a:solidFill>
                  <a:srgbClr val="0B5640"/>
                </a:solidFill>
              </a:rPr>
              <a:t>oficial</a:t>
            </a:r>
            <a:r>
              <a:rPr sz="1320" b="1" dirty="0">
                <a:solidFill>
                  <a:srgbClr val="0B5640"/>
                </a:solidFill>
              </a:rPr>
              <a:t> para </a:t>
            </a:r>
            <a:r>
              <a:rPr sz="1320" b="1" dirty="0" err="1">
                <a:solidFill>
                  <a:srgbClr val="0B5640"/>
                </a:solidFill>
              </a:rPr>
              <a:t>publicarla</a:t>
            </a:r>
            <a:r>
              <a:rPr sz="1320" b="1" dirty="0">
                <a:solidFill>
                  <a:srgbClr val="0B5640"/>
                </a:solidFill>
              </a:rPr>
              <a:t> bajo </a:t>
            </a:r>
            <a:r>
              <a:rPr sz="1320" b="1" dirty="0" err="1">
                <a:solidFill>
                  <a:srgbClr val="0B5640"/>
                </a:solidFill>
              </a:rPr>
              <a:t>el</a:t>
            </a:r>
            <a:r>
              <a:rPr sz="1320" b="1" dirty="0">
                <a:solidFill>
                  <a:srgbClr val="0B5640"/>
                </a:solidFill>
              </a:rPr>
              <a:t> </a:t>
            </a:r>
            <a:r>
              <a:rPr sz="1320" b="1" dirty="0" err="1">
                <a:solidFill>
                  <a:srgbClr val="0B5640"/>
                </a:solidFill>
              </a:rPr>
              <a:t>sello</a:t>
            </a:r>
            <a:r>
              <a:rPr sz="1320" b="1" dirty="0">
                <a:solidFill>
                  <a:srgbClr val="0B5640"/>
                </a:solidFill>
              </a:rPr>
              <a:t> de la </a:t>
            </a:r>
            <a:r>
              <a:rPr sz="1320" b="1" dirty="0" err="1">
                <a:solidFill>
                  <a:srgbClr val="0B5640"/>
                </a:solidFill>
              </a:rPr>
              <a:t>Gobernación</a:t>
            </a:r>
            <a:r>
              <a:rPr sz="1320" b="1" dirty="0">
                <a:solidFill>
                  <a:srgbClr val="0B5640"/>
                </a:solidFill>
              </a:rPr>
              <a:t>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06" y="7571232"/>
            <a:ext cx="14626742" cy="658368"/>
          </a:xfrm>
          <a:prstGeom prst="rect">
            <a:avLst/>
          </a:prstGeom>
          <a:solidFill>
            <a:srgbClr val="0B5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60"/>
          </a:p>
        </p:txBody>
      </p:sp>
      <p:sp>
        <p:nvSpPr>
          <p:cNvPr id="43" name="TextBox 42"/>
          <p:cNvSpPr txBox="1"/>
          <p:nvPr/>
        </p:nvSpPr>
        <p:spPr>
          <a:xfrm>
            <a:off x="1906" y="7659015"/>
            <a:ext cx="14626742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>
                <a:solidFill>
                  <a:srgbClr val="B8E0C4"/>
                </a:solidFill>
              </a:rPr>
              <a:t>Antioquia Biodiversa  ·  Gobernación de Antioquia  ·  Mayo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2859</TotalTime>
  <Words>881</Words>
  <Application>Microsoft Macintosh PowerPoint</Application>
  <PresentationFormat>Personalizado</PresentationFormat>
  <Paragraphs>139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Sebas</cp:lastModifiedBy>
  <cp:revision>10</cp:revision>
  <dcterms:created xsi:type="dcterms:W3CDTF">2013-01-27T09:14:16Z</dcterms:created>
  <dcterms:modified xsi:type="dcterms:W3CDTF">2026-05-19T21:00:55Z</dcterms:modified>
  <cp:category/>
</cp:coreProperties>
</file>